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35B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204" y="2194560"/>
            <a:ext cx="4297680" cy="30379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486400"/>
            <a:ext cx="6647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Manual dos Alunos</a:t>
            </a:r>
            <a:endParaRPr lang="en-US" sz="4600" dirty="0"/>
          </a:p>
          <a:p>
            <a:pPr algn="ctr" indent="0" marL="0">
              <a:lnSpc>
                <a:spcPts val="46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 Responsáveis</a:t>
            </a:r>
            <a:endParaRPr lang="en-US" sz="4600" dirty="0"/>
          </a:p>
        </p:txBody>
      </p:sp>
      <p:sp>
        <p:nvSpPr>
          <p:cNvPr id="4" name="Shape 1"/>
          <p:cNvSpPr/>
          <p:nvPr/>
        </p:nvSpPr>
        <p:spPr>
          <a:xfrm>
            <a:off x="3003804" y="758952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F6C707"/>
          </a:solidFill>
          <a:ln/>
        </p:spPr>
      </p:sp>
      <p:sp>
        <p:nvSpPr>
          <p:cNvPr id="5" name="Text 2"/>
          <p:cNvSpPr/>
          <p:nvPr/>
        </p:nvSpPr>
        <p:spPr>
          <a:xfrm>
            <a:off x="3003804" y="7589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2026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841248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Escola de skate e patins • Belo Horizonte / MG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554480"/>
          </a:xfrm>
          <a:prstGeom prst="rect">
            <a:avLst/>
          </a:prstGeom>
          <a:solidFill>
            <a:srgbClr val="E8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SUMÁRIO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ÍNDICE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1866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2082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020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2416" y="1874520"/>
            <a:ext cx="2491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LOOP SKATE PARK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660904"/>
            <a:ext cx="31866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8072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42416" y="2660904"/>
            <a:ext cx="2491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PARCERIA COM OS RESPONSÁVEIS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447288"/>
            <a:ext cx="31866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59359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42416" y="3447288"/>
            <a:ext cx="2491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METODOLOGIA DAS AULAS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233672"/>
            <a:ext cx="31866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437997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42416" y="4233672"/>
            <a:ext cx="2491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SKATE COMO CULTURA E EDUCAÇÃO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5020056"/>
            <a:ext cx="31866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51663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42416" y="5020056"/>
            <a:ext cx="2491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SKATISTA CIDADÃO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806440"/>
            <a:ext cx="31866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595274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5952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42416" y="5806440"/>
            <a:ext cx="2491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SKATE E EQUIPAMENTOS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6592824"/>
            <a:ext cx="31866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673912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6739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42416" y="6592824"/>
            <a:ext cx="2491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SEGURANÇA EM PRIMEIRO LUGAR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7379208"/>
            <a:ext cx="31866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" y="752551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752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42416" y="7379208"/>
            <a:ext cx="2491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SKATE E EVOLUÇÃO DOS ALUNOS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7200" y="8165592"/>
            <a:ext cx="31866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831189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566928" y="8311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42416" y="8165592"/>
            <a:ext cx="2491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HISTÓRIA DO SKATE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918204" y="1874520"/>
            <a:ext cx="31866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27932" y="202082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4027932" y="2020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503420" y="1874520"/>
            <a:ext cx="2491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MODALIDADES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918204" y="2660904"/>
            <a:ext cx="31866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27932" y="28072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47" name="Text 45"/>
          <p:cNvSpPr/>
          <p:nvPr/>
        </p:nvSpPr>
        <p:spPr>
          <a:xfrm>
            <a:off x="4027932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503420" y="2660904"/>
            <a:ext cx="2491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TIPOS DE MANOBRAS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3918204" y="3447288"/>
            <a:ext cx="31866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27932" y="359359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51" name="Text 49"/>
          <p:cNvSpPr/>
          <p:nvPr/>
        </p:nvSpPr>
        <p:spPr>
          <a:xfrm>
            <a:off x="4027932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12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503420" y="3447288"/>
            <a:ext cx="2491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MANOBRAS BÁSICAS E INTERMEDIÁRIAS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3918204" y="4233672"/>
            <a:ext cx="31866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27932" y="437997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55" name="Text 53"/>
          <p:cNvSpPr/>
          <p:nvPr/>
        </p:nvSpPr>
        <p:spPr>
          <a:xfrm>
            <a:off x="4027932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13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503420" y="4233672"/>
            <a:ext cx="2491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MANOBRAS EM TRANSIÇÃO E OBSTÁCULOS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3918204" y="5020056"/>
            <a:ext cx="31866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027932" y="51663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59" name="Text 57"/>
          <p:cNvSpPr/>
          <p:nvPr/>
        </p:nvSpPr>
        <p:spPr>
          <a:xfrm>
            <a:off x="4027932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14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503420" y="5020056"/>
            <a:ext cx="2491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VALORES QUE O SKATE ENSINA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3918204" y="5806440"/>
            <a:ext cx="31866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027932" y="595274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63" name="Text 61"/>
          <p:cNvSpPr/>
          <p:nvPr/>
        </p:nvSpPr>
        <p:spPr>
          <a:xfrm>
            <a:off x="4027932" y="5952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15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4503420" y="5806440"/>
            <a:ext cx="2491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DÚVIDAS QUE PODEM EXISTIR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3918204" y="6592824"/>
            <a:ext cx="31866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027932" y="673912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67" name="Text 65"/>
          <p:cNvSpPr/>
          <p:nvPr/>
        </p:nvSpPr>
        <p:spPr>
          <a:xfrm>
            <a:off x="4027932" y="6739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16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4503420" y="6592824"/>
            <a:ext cx="2491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MENSAGEM FINAL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3918204" y="7379208"/>
            <a:ext cx="31866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027932" y="752551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71" name="Text 69"/>
          <p:cNvSpPr/>
          <p:nvPr/>
        </p:nvSpPr>
        <p:spPr>
          <a:xfrm>
            <a:off x="4027932" y="752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17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4503420" y="7379208"/>
            <a:ext cx="2491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FONTES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554480"/>
          </a:xfrm>
          <a:prstGeom prst="rect">
            <a:avLst/>
          </a:prstGeom>
          <a:solidFill>
            <a:srgbClr val="18D7D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 — QUEM SOMOS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 LOOP SKATE PARK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09728" cy="793242"/>
          </a:xfrm>
          <a:prstGeom prst="rect">
            <a:avLst/>
          </a:prstGeom>
          <a:solidFill>
            <a:srgbClr val="F6C70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28800"/>
            <a:ext cx="626364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 </a:t>
            </a:r>
            <a:pPr indent="0" marL="0">
              <a:lnSpc>
                <a:spcPts val="201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Loop Skate Park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acreditamos que a prática de esporte radical é uma ferramenta de desenvolvimento. Além de possibilitar um espaço de convivência e expressão cultural.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823210"/>
            <a:ext cx="6647688" cy="929640"/>
          </a:xfrm>
          <a:prstGeom prst="roundRect">
            <a:avLst>
              <a:gd name="adj" fmla="val 13770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42666"/>
            <a:ext cx="6099048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 LOOP SKATE PARK É MAIS QUE UMA ESCOLA, É UM ESPAÇO DE CULTURA, CONVIVÊNCIA E CRIAÇÃO COLETIVA!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0305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Manual dos Alunos e Responsáveis — Loop Skate Park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190488" y="10305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554480"/>
          </a:xfrm>
          <a:prstGeom prst="rect">
            <a:avLst/>
          </a:prstGeom>
          <a:solidFill>
            <a:srgbClr val="935B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 — FAMÍLIA &amp; ESCOLA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PARCERIA RESPONSÁVEIS E LOOP SKATE PARK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647688" cy="656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desenvolvimento no skate acontece quando escola, aluno e família caminham juntos. Por isso, a participação dos responsáveis é fundamental para que o aprendizado seja saudável, seguro e motivador.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rot="2700000">
            <a:off x="466344" y="2713482"/>
            <a:ext cx="155448" cy="155448"/>
          </a:xfrm>
          <a:prstGeom prst="rect">
            <a:avLst/>
          </a:prstGeom>
          <a:solidFill>
            <a:srgbClr val="935BBC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649474"/>
            <a:ext cx="6318504" cy="34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85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ATENÇÃO PARA OS RESPONSÁVEIS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3059049"/>
            <a:ext cx="6647688" cy="446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aprendizado no skate </a:t>
            </a:r>
            <a:pPr algn="l"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não é linear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Cada aluno evolui no seu próprio tempo, de acordo com seu corpo, suas emoções e sua experiência.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624453"/>
            <a:ext cx="6647688" cy="446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Comparações, cobranças excessivas ou pressa podem gerar insegurança e desmotivação. Na Loop, valorizamos o processo, o esforço e as pequenas conquistas do dia a dia.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244721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COMO APOIAR SEU FILHO(A):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555617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640080" y="4705128"/>
            <a:ext cx="146304" cy="146304"/>
          </a:xfrm>
          <a:prstGeom prst="rect">
            <a:avLst/>
          </a:prstGeom>
          <a:solidFill>
            <a:srgbClr val="935BBC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665345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Incentive, mesmo quando a evolução parece lenta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5092382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640080" y="5241893"/>
            <a:ext cx="146304" cy="146304"/>
          </a:xfrm>
          <a:prstGeom prst="rect">
            <a:avLst/>
          </a:prstGeom>
          <a:solidFill>
            <a:srgbClr val="935BBC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5202110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Valorize o esforço, não apenas a manobra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5629148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640080" y="5778659"/>
            <a:ext cx="146304" cy="146304"/>
          </a:xfrm>
          <a:prstGeom prst="rect">
            <a:avLst/>
          </a:prstGeom>
          <a:solidFill>
            <a:srgbClr val="935BBC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738876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Respeite as orientações dos professores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6165913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640080" y="6315424"/>
            <a:ext cx="146304" cy="146304"/>
          </a:xfrm>
          <a:prstGeom prst="rect">
            <a:avLst/>
          </a:prstGeom>
          <a:solidFill>
            <a:srgbClr val="935BBC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6275641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Confie no tempo de cada aluno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6702679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640080" y="6852190"/>
            <a:ext cx="146304" cy="146304"/>
          </a:xfrm>
          <a:prstGeom prst="rect">
            <a:avLst/>
          </a:prstGeom>
          <a:solidFill>
            <a:srgbClr val="935BBC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6812407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Celebre cada avanço, por menor que pareça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7312596"/>
            <a:ext cx="6647688" cy="446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Quando família e escola atuam em parceria, o skate se torna uma poderosa ferramenta de desenvolvimento, autonomia e confiança.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7878000"/>
            <a:ext cx="109728" cy="282702"/>
          </a:xfrm>
          <a:prstGeom prst="rect">
            <a:avLst/>
          </a:prstGeom>
          <a:solidFill>
            <a:srgbClr val="F6C707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7878000"/>
            <a:ext cx="6263640" cy="28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Estamos juntos nesse caminho.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10305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Manual dos Alunos e Responsáveis — Loop Skate Park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90488" y="10305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554480"/>
          </a:xfrm>
          <a:prstGeom prst="rect">
            <a:avLst/>
          </a:prstGeom>
          <a:solidFill>
            <a:srgbClr val="FFB3D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 — COMO FUNCIONA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METODOLOGIA E DINÂMICA DAS AULAS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647688" cy="446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 aulas são pensadas para que cada aluno evolua no seu tempo, com segurança e acompanhamento. Garantindo progressão e diversão.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449068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ETAPAS DAS AULAS: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759964"/>
            <a:ext cx="6647688" cy="512064"/>
          </a:xfrm>
          <a:prstGeom prst="roundRect">
            <a:avLst>
              <a:gd name="adj" fmla="val 14286"/>
            </a:avLst>
          </a:prstGeom>
          <a:solidFill>
            <a:srgbClr val="E8D4BF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" y="283311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28331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70432" y="2903061"/>
            <a:ext cx="5733288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Acolhimento</a:t>
            </a:r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chegada, escuta e organização do grupo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363468"/>
            <a:ext cx="6647688" cy="512064"/>
          </a:xfrm>
          <a:prstGeom prst="roundRect">
            <a:avLst>
              <a:gd name="adj" fmla="val 14286"/>
            </a:avLst>
          </a:prstGeom>
          <a:solidFill>
            <a:srgbClr val="E8D4BF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" y="34366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" y="34366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70432" y="3506565"/>
            <a:ext cx="5733288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Aquecimento</a:t>
            </a:r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preparação do corpo de forma lúdica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966972"/>
            <a:ext cx="6647688" cy="512064"/>
          </a:xfrm>
          <a:prstGeom prst="roundRect">
            <a:avLst>
              <a:gd name="adj" fmla="val 14286"/>
            </a:avLst>
          </a:prstGeom>
          <a:solidFill>
            <a:srgbClr val="E8D4BF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" y="404012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" y="40401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70432" y="4110069"/>
            <a:ext cx="5733288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Exercícios de equilíbrio / postura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570476"/>
            <a:ext cx="6647688" cy="512064"/>
          </a:xfrm>
          <a:prstGeom prst="roundRect">
            <a:avLst>
              <a:gd name="adj" fmla="val 14286"/>
            </a:avLst>
          </a:prstGeom>
          <a:solidFill>
            <a:srgbClr val="E8D4BF"/>
          </a:solidFill>
          <a:ln/>
        </p:spPr>
      </p:sp>
      <p:sp>
        <p:nvSpPr>
          <p:cNvPr id="20" name="Shape 18"/>
          <p:cNvSpPr/>
          <p:nvPr/>
        </p:nvSpPr>
        <p:spPr>
          <a:xfrm>
            <a:off x="603504" y="464362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" y="46436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70432" y="4713573"/>
            <a:ext cx="5733288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Prática de manobras com desafios progressivos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5173980"/>
            <a:ext cx="6647688" cy="512064"/>
          </a:xfrm>
          <a:prstGeom prst="roundRect">
            <a:avLst>
              <a:gd name="adj" fmla="val 14286"/>
            </a:avLst>
          </a:prstGeom>
          <a:solidFill>
            <a:srgbClr val="E8D4BF"/>
          </a:solidFill>
          <a:ln/>
        </p:spPr>
      </p:sp>
      <p:sp>
        <p:nvSpPr>
          <p:cNvPr id="24" name="Shape 22"/>
          <p:cNvSpPr/>
          <p:nvPr/>
        </p:nvSpPr>
        <p:spPr>
          <a:xfrm>
            <a:off x="603504" y="524713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" y="52471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70432" y="5317077"/>
            <a:ext cx="5733288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Fechamento</a:t>
            </a:r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conversa, partilha e combinados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10305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Manual dos Alunos e Responsáveis — Loop Skate Park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90488" y="10305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554480"/>
          </a:xfrm>
          <a:prstGeom prst="rect">
            <a:avLst/>
          </a:prstGeom>
          <a:solidFill>
            <a:srgbClr val="18D7D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 — POR QUE SKATE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SKATE COMO CULTURA E EDUCAÇÃO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647688" cy="656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skate proporciona a experimentação, o respeito ao próprio ritmo, a superação de desafios e o aprendizado coletivo. São práticas que acontecem no encontro com o outro, no compartilhamento de espaços e experiências.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603754"/>
            <a:ext cx="6647688" cy="446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Mais do que esporte, skate é o corpo em movimento, que ensina a lidar com o erro, a persistir e a construir autonomia.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169158"/>
            <a:ext cx="6647688" cy="929640"/>
          </a:xfrm>
          <a:prstGeom prst="roundRect">
            <a:avLst>
              <a:gd name="adj" fmla="val 13770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88614"/>
            <a:ext cx="6099048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NA LOOP SKATE PARK, ACREDITAMOS QUE CADA QUEDA É PARTE DO APRENDIZADO E QUE CADA CONQUISTA É COLETIVA.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318254"/>
            <a:ext cx="6647688" cy="656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Estudos mostram que os esportes radicais, como o skate, são poderosas ferramentas educativas, uma vez que quanto maior a diversidade de experiências motoras, maior a capacidade de adaptação psicomotora das crianças.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10305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Manual dos Alunos e Responsáveis — Loop Skate Park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190488" y="10305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554480"/>
          </a:xfrm>
          <a:prstGeom prst="rect">
            <a:avLst/>
          </a:prstGeom>
          <a:solidFill>
            <a:srgbClr val="18D7D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 — POR QUE SKATE (CONTINUAÇÃO)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SKATE COMO CULTURA E EDUCAÇÃO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883664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SKATE CONTRIBUI PARA: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640080" y="2344071"/>
            <a:ext cx="146304" cy="146304"/>
          </a:xfrm>
          <a:prstGeom prst="rect">
            <a:avLst/>
          </a:prstGeom>
          <a:solidFill>
            <a:srgbClr val="18D7D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304288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Desenvolvimento da coordenação motora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731326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640080" y="2880836"/>
            <a:ext cx="146304" cy="146304"/>
          </a:xfrm>
          <a:prstGeom prst="rect">
            <a:avLst/>
          </a:prstGeom>
          <a:solidFill>
            <a:srgbClr val="18D7D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841054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Equilíbrio e consciência corporal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268091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640080" y="3417602"/>
            <a:ext cx="146304" cy="146304"/>
          </a:xfrm>
          <a:prstGeom prst="rect">
            <a:avLst/>
          </a:prstGeom>
          <a:solidFill>
            <a:srgbClr val="18D7D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377819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Força, agilidade e velocidade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804857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640080" y="3954367"/>
            <a:ext cx="146304" cy="146304"/>
          </a:xfrm>
          <a:prstGeom prst="rect">
            <a:avLst/>
          </a:prstGeom>
          <a:solidFill>
            <a:srgbClr val="18D7D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914585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Autonomia e confiança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341622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640080" y="4491133"/>
            <a:ext cx="146304" cy="146304"/>
          </a:xfrm>
          <a:prstGeom prst="rect">
            <a:avLst/>
          </a:prstGeom>
          <a:solidFill>
            <a:srgbClr val="18D7D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451350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Socialização e respeito às diferenças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878387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640080" y="5027898"/>
            <a:ext cx="146304" cy="146304"/>
          </a:xfrm>
          <a:prstGeom prst="rect">
            <a:avLst/>
          </a:prstGeom>
          <a:solidFill>
            <a:srgbClr val="18D7D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988115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Persistência e superação de desafios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5415153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640080" y="5564664"/>
            <a:ext cx="146304" cy="146304"/>
          </a:xfrm>
          <a:prstGeom prst="rect">
            <a:avLst/>
          </a:prstGeom>
          <a:solidFill>
            <a:srgbClr val="18D7D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5524881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Vivência do erro como parte natural do aprendizado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025070"/>
            <a:ext cx="6647688" cy="656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prática do skate também favorece o planejamento e tomada de decisão, estimula o controle inibitório (esperar, respeitar regras e limites) e a flexibilidade cognitiva (adaptar-se a situações imprevistas).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800024"/>
            <a:ext cx="6647688" cy="656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Além de ensinar a lidar com: frustrações, desafios progressivos, cooperação e convivência e responsabilidade compartilhada. Todos esses estímulos e experiências são transferidos para a escola, a família e outras relações sociais.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10305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Manual dos Alunos e Responsáveis — Loop Skate Park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90488" y="10305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554480"/>
          </a:xfrm>
          <a:prstGeom prst="rect">
            <a:avLst/>
          </a:prstGeom>
          <a:solidFill>
            <a:srgbClr val="935B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 — COMUNIDADE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SKATISTA CIDADÃO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09728" cy="537972"/>
          </a:xfrm>
          <a:prstGeom prst="rect">
            <a:avLst/>
          </a:prstGeom>
          <a:solidFill>
            <a:srgbClr val="F6C70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28800"/>
            <a:ext cx="6263640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Ser skatista vai muito além de aprender manobras. Ser skatista é aprender a conviver.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567940"/>
            <a:ext cx="6647688" cy="656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 Loop, acreditamos que cada aluno é parte de uma comunidade. Isso significa entender que a pista é um espaço coletivo, onde todos têm direito de aprender, errar, evoluir e se divertir com segurança.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397758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UM SKATISTA CIDADÃO: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708654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640080" y="3858165"/>
            <a:ext cx="146304" cy="146304"/>
          </a:xfrm>
          <a:prstGeom prst="rect">
            <a:avLst/>
          </a:prstGeom>
          <a:solidFill>
            <a:srgbClr val="935BBC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818382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Respeita sua vez e o tempo do outro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245420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640080" y="4394930"/>
            <a:ext cx="146304" cy="146304"/>
          </a:xfrm>
          <a:prstGeom prst="rect">
            <a:avLst/>
          </a:prstGeom>
          <a:solidFill>
            <a:srgbClr val="935BBC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355148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Incentiva, não ridiculariza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782185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640080" y="4931696"/>
            <a:ext cx="146304" cy="146304"/>
          </a:xfrm>
          <a:prstGeom prst="rect">
            <a:avLst/>
          </a:prstGeom>
          <a:solidFill>
            <a:srgbClr val="935BBC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891913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Cuida da pista e dos equipamentos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5318951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640080" y="5468461"/>
            <a:ext cx="146304" cy="146304"/>
          </a:xfrm>
          <a:prstGeom prst="rect">
            <a:avLst/>
          </a:prstGeom>
          <a:solidFill>
            <a:srgbClr val="935BBC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5428679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Resolve conflitos com diálogo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5855716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640080" y="6005227"/>
            <a:ext cx="146304" cy="146304"/>
          </a:xfrm>
          <a:prstGeom prst="rect">
            <a:avLst/>
          </a:prstGeom>
          <a:solidFill>
            <a:srgbClr val="935BBC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5965444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Ajuda quem está começando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6392481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640080" y="6541992"/>
            <a:ext cx="146304" cy="146304"/>
          </a:xfrm>
          <a:prstGeom prst="rect">
            <a:avLst/>
          </a:prstGeom>
          <a:solidFill>
            <a:srgbClr val="935BBC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6502209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Não exclui, não provoca, não desrespeita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10305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Manual dos Alunos e Responsáveis — Loop Skate Park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90488" y="10305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554480"/>
          </a:xfrm>
          <a:prstGeom prst="rect">
            <a:avLst/>
          </a:prstGeom>
          <a:solidFill>
            <a:srgbClr val="935B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 — COMUNIDADE (CONTINUAÇÃO)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SKATISTA CIDADÃO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647688" cy="446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skate ensina responsabilidade. Quando aprendemos a esperar a vez para dropar, estamos aprendendo autocontrole.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394204"/>
            <a:ext cx="6647688" cy="23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Quando ajudamos um colega a levantar, estamos aprendendo empatia.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750058"/>
            <a:ext cx="6647688" cy="23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Quando cuidamos da pista, estamos exercendo cidadania.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105912"/>
            <a:ext cx="6647688" cy="446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Aqui na Loop, formar skatistas é também formar pessoas seguras, respeitosas e conscientes do seu papel no coletivo.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671316"/>
            <a:ext cx="6647688" cy="929640"/>
          </a:xfrm>
          <a:prstGeom prst="roundRect">
            <a:avLst>
              <a:gd name="adj" fmla="val 13770"/>
            </a:avLst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890772"/>
            <a:ext cx="6099048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PORQUE ANDAR DE SKATE É LIBERDADE, MAS LIBERDADE TAMBÉM É RESPONSABILIDADE.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10305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Manual dos Alunos e Responsáveis — Loop Skate Park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190488" y="10305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554480"/>
          </a:xfrm>
          <a:prstGeom prst="rect">
            <a:avLst/>
          </a:prstGeom>
          <a:solidFill>
            <a:srgbClr val="FFB3D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06 — MATERIAL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SKATE E EQUIPAMENTOS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232404" cy="1025144"/>
          </a:xfrm>
          <a:prstGeom prst="roundRect">
            <a:avLst>
              <a:gd name="adj" fmla="val 8920"/>
            </a:avLst>
          </a:prstGeom>
          <a:solidFill>
            <a:srgbClr val="18D7D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93392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SHAPE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69744"/>
            <a:ext cx="286664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É a "prancha" do skate, onde o aluno apoia os pés.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72484" y="1828800"/>
            <a:ext cx="3232404" cy="1025144"/>
          </a:xfrm>
          <a:prstGeom prst="roundRect">
            <a:avLst>
              <a:gd name="adj" fmla="val 8920"/>
            </a:avLst>
          </a:prstGeom>
          <a:solidFill>
            <a:srgbClr val="FFB3D1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55364" y="1993392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RODAS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55364" y="2269744"/>
            <a:ext cx="286664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Permitem que o skate deslize pelo chão.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036824"/>
            <a:ext cx="3232404" cy="1212088"/>
          </a:xfrm>
          <a:prstGeom prst="roundRect">
            <a:avLst>
              <a:gd name="adj" fmla="val 7544"/>
            </a:avLst>
          </a:prstGeom>
          <a:solidFill>
            <a:srgbClr val="F6C707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1416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ROLAMENTOS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477768"/>
            <a:ext cx="286664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Peças internas das rodas que fazem o skate girar com mais velocidade e suavidade.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72484" y="3036824"/>
            <a:ext cx="3232404" cy="1212088"/>
          </a:xfrm>
          <a:prstGeom prst="roundRect">
            <a:avLst>
              <a:gd name="adj" fmla="val 7544"/>
            </a:avLst>
          </a:prstGeom>
          <a:solidFill>
            <a:srgbClr val="E8D4B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5364" y="3201416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TRUCK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55364" y="3477768"/>
            <a:ext cx="286664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Eixo de metal que liga as rodas ao shape e permite fazer curvas.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431792"/>
            <a:ext cx="3232404" cy="1025144"/>
          </a:xfrm>
          <a:prstGeom prst="roundRect">
            <a:avLst>
              <a:gd name="adj" fmla="val 8920"/>
            </a:avLst>
          </a:prstGeom>
          <a:solidFill>
            <a:srgbClr val="18D7D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596384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LIXA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872736"/>
            <a:ext cx="286664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Parte áspera colada sobre o shape, que ajuda os pés a não escorregarem.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72484" y="4431792"/>
            <a:ext cx="3232404" cy="1025144"/>
          </a:xfrm>
          <a:prstGeom prst="roundRect">
            <a:avLst>
              <a:gd name="adj" fmla="val 8920"/>
            </a:avLst>
          </a:prstGeom>
          <a:solidFill>
            <a:srgbClr val="935BBC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55364" y="4596384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CAPACETE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55364" y="4872736"/>
            <a:ext cx="286664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Protege a cabeça contra impactos e quedas.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5639816"/>
            <a:ext cx="3232404" cy="1025144"/>
          </a:xfrm>
          <a:prstGeom prst="roundRect">
            <a:avLst>
              <a:gd name="adj" fmla="val 8920"/>
            </a:avLst>
          </a:prstGeom>
          <a:solidFill>
            <a:srgbClr val="FFB3D1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804408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COTOVELEIRAS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080760"/>
            <a:ext cx="286664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Protegem os cotovelos em caso de queda.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872484" y="5639816"/>
            <a:ext cx="3232404" cy="1025144"/>
          </a:xfrm>
          <a:prstGeom prst="roundRect">
            <a:avLst>
              <a:gd name="adj" fmla="val 8920"/>
            </a:avLst>
          </a:prstGeom>
          <a:solidFill>
            <a:srgbClr val="F6C707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55364" y="5804408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JOELHEIRAS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055364" y="6080760"/>
            <a:ext cx="286664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Protegem os joelhos contra impactos e raspões.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6847840"/>
            <a:ext cx="3232404" cy="1025144"/>
          </a:xfrm>
          <a:prstGeom prst="roundRect">
            <a:avLst>
              <a:gd name="adj" fmla="val 8920"/>
            </a:avLst>
          </a:prstGeom>
          <a:solidFill>
            <a:srgbClr val="E8D4B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7012432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PROTETORES DE PUNHO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7288784"/>
            <a:ext cx="286664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Protegem os pulsos e ajudam a evitar lesões ao apoiar as mãos no chão.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8055864"/>
            <a:ext cx="6647688" cy="1125982"/>
          </a:xfrm>
          <a:prstGeom prst="roundRect">
            <a:avLst>
              <a:gd name="adj" fmla="val 8121"/>
            </a:avLst>
          </a:prstGeom>
          <a:solidFill>
            <a:srgbClr val="F6C707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8257032"/>
            <a:ext cx="6135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ATENÇÃO RESPONSÁVEIS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13232" y="8522208"/>
            <a:ext cx="6135624" cy="440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uso dos equipamentos de proteção é obrigatório. Eles fazem parte da aula e também da educação para o cuidado com o corpo.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10305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Manual dos Alunos e Responsáveis — Loop Skate Park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90488" y="10305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554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07 — CUIDADO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SEGURANÇA EM PRIMEIRO LUGAR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09728" cy="282702"/>
          </a:xfrm>
          <a:prstGeom prst="rect">
            <a:avLst/>
          </a:prstGeom>
          <a:solidFill>
            <a:srgbClr val="F6C70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28800"/>
            <a:ext cx="6263640" cy="28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Cair faz parte. Aprender a cair com segurança também.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312670"/>
            <a:ext cx="6647688" cy="446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Ensinar segurança no skate é ensinar responsabilidade, percepção de risco e cuidado consigo e com o outro.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932938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PARA ISSO, É IMPORTANTE: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43834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640080" y="3393345"/>
            <a:ext cx="146304" cy="146304"/>
          </a:xfrm>
          <a:prstGeom prst="rect">
            <a:avLst/>
          </a:prstGeom>
          <a:solidFill>
            <a:srgbClr val="F6C707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353562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Respeitar os próprios limites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780600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640080" y="3930110"/>
            <a:ext cx="146304" cy="146304"/>
          </a:xfrm>
          <a:prstGeom prst="rect">
            <a:avLst/>
          </a:prstGeom>
          <a:solidFill>
            <a:srgbClr val="F6C707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890328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Aprender técnicas de queda segura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317365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640080" y="4466876"/>
            <a:ext cx="146304" cy="146304"/>
          </a:xfrm>
          <a:prstGeom prst="rect">
            <a:avLst/>
          </a:prstGeom>
          <a:solidFill>
            <a:srgbClr val="F6C707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427093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Cuidar do espaço e dos colegas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854130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640080" y="5003641"/>
            <a:ext cx="146304" cy="146304"/>
          </a:xfrm>
          <a:prstGeom prst="rect">
            <a:avLst/>
          </a:prstGeom>
          <a:solidFill>
            <a:srgbClr val="F6C707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963858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Escutar o professor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10305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Manual dos Alunos e Responsáveis — Loop Skate Park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90488" y="10305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554480"/>
          </a:xfrm>
          <a:prstGeom prst="rect">
            <a:avLst/>
          </a:prstGeom>
          <a:solidFill>
            <a:srgbClr val="18D7D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08 — PROGRESSÃO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SKATE E EVOLUÇÃO DOS ALUNOS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883664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CONHECER O SKATE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640080" y="2344071"/>
            <a:ext cx="146304" cy="146304"/>
          </a:xfrm>
          <a:prstGeom prst="rect">
            <a:avLst/>
          </a:prstGeom>
          <a:solidFill>
            <a:srgbClr val="18D7D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304288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Equilíbrio parado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731326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640080" y="2880836"/>
            <a:ext cx="146304" cy="146304"/>
          </a:xfrm>
          <a:prstGeom prst="rect">
            <a:avLst/>
          </a:prstGeom>
          <a:solidFill>
            <a:srgbClr val="18D7D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841054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Equilíbrio em movimento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268091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640080" y="3417602"/>
            <a:ext cx="146304" cy="146304"/>
          </a:xfrm>
          <a:prstGeom prst="rect">
            <a:avLst/>
          </a:prstGeom>
          <a:solidFill>
            <a:srgbClr val="18D7D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377819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Impulsão e controle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804857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640080" y="3954367"/>
            <a:ext cx="146304" cy="146304"/>
          </a:xfrm>
          <a:prstGeom prst="rect">
            <a:avLst/>
          </a:prstGeom>
          <a:solidFill>
            <a:srgbClr val="18D7D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914585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Curvas e direção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341622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640080" y="4491133"/>
            <a:ext cx="146304" cy="146304"/>
          </a:xfrm>
          <a:prstGeom prst="rect">
            <a:avLst/>
          </a:prstGeom>
          <a:solidFill>
            <a:srgbClr val="18D7D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451350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Introdução às manobras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951539"/>
            <a:ext cx="6647688" cy="1125982"/>
          </a:xfrm>
          <a:prstGeom prst="roundRect">
            <a:avLst>
              <a:gd name="adj" fmla="val 8121"/>
            </a:avLst>
          </a:prstGeom>
          <a:solidFill>
            <a:srgbClr val="FFB3D1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5152707"/>
            <a:ext cx="6135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ATENÇÃO AOS RESPONSÁVEIS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3232" y="5417883"/>
            <a:ext cx="6135624" cy="440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Os responsáveis fazem parte do processo! O apoio fortalece a autoestima e traz segurança.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6278689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640080" y="6428200"/>
            <a:ext cx="146304" cy="146304"/>
          </a:xfrm>
          <a:prstGeom prst="rect">
            <a:avLst/>
          </a:prstGeom>
          <a:solidFill>
            <a:srgbClr val="FFB3D1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6388417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Incentive sem pressionar.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6815455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2700000">
            <a:off x="640080" y="6964966"/>
            <a:ext cx="146304" cy="146304"/>
          </a:xfrm>
          <a:prstGeom prst="rect">
            <a:avLst/>
          </a:prstGeom>
          <a:solidFill>
            <a:srgbClr val="FFB3D1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6925183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Valorize o esforço.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7352220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2700000">
            <a:off x="640080" y="7501731"/>
            <a:ext cx="146304" cy="146304"/>
          </a:xfrm>
          <a:prstGeom prst="rect">
            <a:avLst/>
          </a:prstGeom>
          <a:solidFill>
            <a:srgbClr val="FFB3D1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7461948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Evite comparações.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57200" y="7888986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2700000">
            <a:off x="640080" y="8038497"/>
            <a:ext cx="146304" cy="146304"/>
          </a:xfrm>
          <a:prstGeom prst="rect">
            <a:avLst/>
          </a:prstGeom>
          <a:solidFill>
            <a:srgbClr val="FFB3D1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7998714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Respeite o tempo de aprendizagem.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10305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Manual dos Alunos e Responsáveis — Loop Skate Park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90488" y="10305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554480"/>
          </a:xfrm>
          <a:prstGeom prst="rect">
            <a:avLst/>
          </a:prstGeom>
          <a:solidFill>
            <a:srgbClr val="935B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09 — RAÍZES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HISTÓRIA DO SKATE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6647688" cy="3739642"/>
          </a:xfrm>
          <a:prstGeom prst="roundRect">
            <a:avLst>
              <a:gd name="adj" fmla="val 2934"/>
            </a:avLst>
          </a:prstGeom>
          <a:solidFill>
            <a:srgbClr val="E8D4B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66544"/>
            <a:ext cx="6099048" cy="91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skate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surgiu na Califórnia, nos Estados Unidos, na década de 1950, criado por surfistas que queriam manter a sensação do surfe quando o mar estava sem ondas. Inicialmente chamado de </a:t>
            </a:r>
            <a:pPr indent="0" marL="0">
              <a:lnSpc>
                <a:spcPts val="1750"/>
              </a:lnSpc>
              <a:buNone/>
            </a:pPr>
            <a:r>
              <a:rPr lang="en-US" sz="1250" i="1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sidewalk surfing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(surfe de calçada), o skate rapidamente ganhou identidade própria.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3129280"/>
            <a:ext cx="6099048" cy="91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Nas décadas seguintes, o skate evoluiu tecnicamente com o surgimento de novas formas de pranchas, eixos e rodas, permitindo maior controle e criatividade. A ocupação de piscinas vazias e espaços urbanos marcou o crescimento do skate como prática livre, inventiva e urbana.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192016"/>
            <a:ext cx="6099048" cy="113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partir dos anos 1980 e 1990, o skate se consolidou como uma cultura, profundamente ligada à música, à arte, à moda e à convivência comunitária. Mais recentemente, o skate ganhou reconhecimento institucional, sendo incluído nos Jogos Olímpicos, sem perder seu caráter de expressão e liberdade.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10305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Manual dos Alunos e Responsáveis — Loop Skate Park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190488" y="10305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554480"/>
          </a:xfrm>
          <a:prstGeom prst="rect">
            <a:avLst/>
          </a:prstGeom>
          <a:solidFill>
            <a:srgbClr val="FFB3D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 — ONDE SE ANDA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MODALIDADES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965960" cy="655320"/>
          </a:xfrm>
          <a:prstGeom prst="rect">
            <a:avLst/>
          </a:prstGeom>
          <a:solidFill>
            <a:srgbClr val="935BBC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23160" y="1828800"/>
            <a:ext cx="4681728" cy="655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828800"/>
            <a:ext cx="1709928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STREET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87752" y="1828800"/>
            <a:ext cx="435254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Modalidade praticada em obstáculos como corrimãos, caixotes, escadas e rampas baixas, simulando a rua.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93848"/>
            <a:ext cx="1965960" cy="475488"/>
          </a:xfrm>
          <a:prstGeom prst="rect">
            <a:avLst/>
          </a:prstGeom>
          <a:solidFill>
            <a:srgbClr val="935BBC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2593848"/>
            <a:ext cx="4681728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259384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VERT / HALF / MINI RAMP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87752" y="2593848"/>
            <a:ext cx="4352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Modalidades praticadas em rampas em formato de "U".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79064"/>
            <a:ext cx="1965960" cy="475488"/>
          </a:xfrm>
          <a:prstGeom prst="rect">
            <a:avLst/>
          </a:prstGeom>
          <a:solidFill>
            <a:srgbClr val="935BBC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3179064"/>
            <a:ext cx="4681728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3179064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MINI RAMP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87752" y="3179064"/>
            <a:ext cx="4352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Rampa menor, ideal para aprendizado e manobras técnicas.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64280"/>
            <a:ext cx="1965960" cy="475488"/>
          </a:xfrm>
          <a:prstGeom prst="rect">
            <a:avLst/>
          </a:prstGeom>
          <a:solidFill>
            <a:srgbClr val="935BBC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23160" y="3764280"/>
            <a:ext cx="4681728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764280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HALF / VERT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87752" y="3764280"/>
            <a:ext cx="4352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Rampas maiores, com mais altura e velocidade.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49496"/>
            <a:ext cx="1965960" cy="655320"/>
          </a:xfrm>
          <a:prstGeom prst="rect">
            <a:avLst/>
          </a:prstGeom>
          <a:solidFill>
            <a:srgbClr val="935BBC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23160" y="4349496"/>
            <a:ext cx="4681728" cy="655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4349496"/>
            <a:ext cx="1709928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BOWL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87752" y="4349496"/>
            <a:ext cx="435254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Pista em formato de piscina, com curvas e paredes inclinadas.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114544"/>
            <a:ext cx="1965960" cy="655320"/>
          </a:xfrm>
          <a:prstGeom prst="rect">
            <a:avLst/>
          </a:prstGeom>
          <a:solidFill>
            <a:srgbClr val="935BBC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23160" y="5114544"/>
            <a:ext cx="4681728" cy="655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" y="5114544"/>
            <a:ext cx="1709928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BANKS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587752" y="5114544"/>
            <a:ext cx="435254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Planos inclinados que ajudam a ganhar velocidade e fazer transições.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879592"/>
            <a:ext cx="1965960" cy="655320"/>
          </a:xfrm>
          <a:prstGeom prst="rect">
            <a:avLst/>
          </a:prstGeom>
          <a:solidFill>
            <a:srgbClr val="935BBC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23160" y="5879592"/>
            <a:ext cx="4681728" cy="655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" y="5879592"/>
            <a:ext cx="1709928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DOWNHILL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587752" y="5879592"/>
            <a:ext cx="435254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Modalidade praticada em descidas, focada em velocidade e controle do skate.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10305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Manual dos Alunos e Responsáveis — Loop Skate Park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90488" y="10305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554480"/>
          </a:xfrm>
          <a:prstGeom prst="rect">
            <a:avLst/>
          </a:prstGeom>
          <a:solidFill>
            <a:srgbClr val="18D7D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11 — CATEGORIAS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TIPOS DE MANOBRAS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232404" cy="1212088"/>
          </a:xfrm>
          <a:prstGeom prst="roundRect">
            <a:avLst>
              <a:gd name="adj" fmla="val 7544"/>
            </a:avLst>
          </a:prstGeom>
          <a:solidFill>
            <a:srgbClr val="18D7D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93392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MANOBRAS DE SOLO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69744"/>
            <a:ext cx="286664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Realizadas no chão, sem usar obstáculos.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72484" y="1828800"/>
            <a:ext cx="3232404" cy="1212088"/>
          </a:xfrm>
          <a:prstGeom prst="roundRect">
            <a:avLst>
              <a:gd name="adj" fmla="val 7544"/>
            </a:avLst>
          </a:prstGeom>
          <a:solidFill>
            <a:srgbClr val="FFB3D1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55364" y="1993392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MANOBRAS DE COPING OU CORRIMÃO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55364" y="2269744"/>
            <a:ext cx="286664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Feitas deslizando ou apoiando o skate na borda da rampa (coping) ou em corrimãos.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223768"/>
            <a:ext cx="3232404" cy="1025144"/>
          </a:xfrm>
          <a:prstGeom prst="roundRect">
            <a:avLst>
              <a:gd name="adj" fmla="val 8920"/>
            </a:avLst>
          </a:prstGeom>
          <a:solidFill>
            <a:srgbClr val="F6C707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88360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MANOBRAS DE TRANSIÇÃO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664712"/>
            <a:ext cx="286664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Executadas em rampas, bowls ou mini ramps, usando as curvas da pista.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10305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Manual dos Alunos e Responsáveis — Loop Skate Park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190488" y="10305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554480"/>
          </a:xfrm>
          <a:prstGeom prst="rect">
            <a:avLst/>
          </a:prstGeom>
          <a:solidFill>
            <a:srgbClr val="935B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12 — PRIMEIROS TRUQUES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MANOBRAS BÁSICAS E INTERMEDIÁRIAS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232404" cy="1025144"/>
          </a:xfrm>
          <a:prstGeom prst="roundRect">
            <a:avLst>
              <a:gd name="adj" fmla="val 8920"/>
            </a:avLst>
          </a:prstGeom>
          <a:solidFill>
            <a:srgbClr val="18D7D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93392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OLLIE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69744"/>
            <a:ext cx="286664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Salto básico do skate, sem usar as mãos, que levanta o skate do chão.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72484" y="1828800"/>
            <a:ext cx="3232404" cy="1025144"/>
          </a:xfrm>
          <a:prstGeom prst="roundRect">
            <a:avLst>
              <a:gd name="adj" fmla="val 8920"/>
            </a:avLst>
          </a:prstGeom>
          <a:solidFill>
            <a:srgbClr val="FFB3D1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55364" y="1993392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SHOVE-IT (SHOV-IT)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55364" y="2269744"/>
            <a:ext cx="286664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Manobra em que o skate gira 180° no chão, sem o corpo girar junto.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036824"/>
            <a:ext cx="3232404" cy="1025144"/>
          </a:xfrm>
          <a:prstGeom prst="roundRect">
            <a:avLst>
              <a:gd name="adj" fmla="val 8920"/>
            </a:avLst>
          </a:prstGeom>
          <a:solidFill>
            <a:srgbClr val="F6C707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1416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VARIAL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477768"/>
            <a:ext cx="286664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Combinação de shove-it com flip (o skate gira e vira ao mesmo tempo).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72484" y="3036824"/>
            <a:ext cx="3232404" cy="1025144"/>
          </a:xfrm>
          <a:prstGeom prst="roundRect">
            <a:avLst>
              <a:gd name="adj" fmla="val 8920"/>
            </a:avLst>
          </a:prstGeom>
          <a:solidFill>
            <a:srgbClr val="935BBC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5364" y="3201416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FLIP (KICKFLIP)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55364" y="3477768"/>
            <a:ext cx="286664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skate gira no ar, dando uma volta completa, enquanto o skatista salta.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244848"/>
            <a:ext cx="3232404" cy="1025144"/>
          </a:xfrm>
          <a:prstGeom prst="roundRect">
            <a:avLst>
              <a:gd name="adj" fmla="val 8920"/>
            </a:avLst>
          </a:prstGeom>
          <a:solidFill>
            <a:srgbClr val="E8D4B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09440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HEELFLIP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685792"/>
            <a:ext cx="286664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Parecido com o kickflip, mas o giro é feito com o calcanhar.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72484" y="4244848"/>
            <a:ext cx="3232404" cy="1025144"/>
          </a:xfrm>
          <a:prstGeom prst="roundRect">
            <a:avLst>
              <a:gd name="adj" fmla="val 8920"/>
            </a:avLst>
          </a:prstGeom>
          <a:solidFill>
            <a:srgbClr val="18D7D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55364" y="4409440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KICKFLIP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55364" y="4685792"/>
            <a:ext cx="286664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Manobra em que o skate gira no ar usando o movimento da ponta do pé.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10305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Manual dos Alunos e Responsáveis — Loop Skate Park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90488" y="10305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554480"/>
          </a:xfrm>
          <a:prstGeom prst="rect">
            <a:avLst/>
          </a:prstGeom>
          <a:solidFill>
            <a:srgbClr val="FFB3D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13 — NÍVEL SEGUINTE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MANOBRAS EM TRANSIÇÃO E OBSTÁCULOS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232404" cy="1025144"/>
          </a:xfrm>
          <a:prstGeom prst="roundRect">
            <a:avLst>
              <a:gd name="adj" fmla="val 8920"/>
            </a:avLst>
          </a:prstGeom>
          <a:solidFill>
            <a:srgbClr val="18D7D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93392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FIFTY-FIFTY (50-50 / "FIFFY")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69744"/>
            <a:ext cx="286664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Grind em que os dois trucks deslizam juntos no obstáculo.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72484" y="1828800"/>
            <a:ext cx="3232404" cy="1025144"/>
          </a:xfrm>
          <a:prstGeom prst="roundRect">
            <a:avLst>
              <a:gd name="adj" fmla="val 8920"/>
            </a:avLst>
          </a:prstGeom>
          <a:solidFill>
            <a:srgbClr val="FFB3D1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55364" y="1993392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TO FAKIE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55364" y="2269744"/>
            <a:ext cx="286664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Subir a rampa e descer de costas, sem girar o corpo.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036824"/>
            <a:ext cx="3232404" cy="1025144"/>
          </a:xfrm>
          <a:prstGeom prst="roundRect">
            <a:avLst>
              <a:gd name="adj" fmla="val 8920"/>
            </a:avLst>
          </a:prstGeom>
          <a:solidFill>
            <a:srgbClr val="F6C707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1416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ROCK AND ROLL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477768"/>
            <a:ext cx="286664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Subir a rampa, apoiar o shape no coping e girar 180° para descer.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72484" y="3036824"/>
            <a:ext cx="3232404" cy="1025144"/>
          </a:xfrm>
          <a:prstGeom prst="roundRect">
            <a:avLst>
              <a:gd name="adj" fmla="val 8920"/>
            </a:avLst>
          </a:prstGeom>
          <a:solidFill>
            <a:srgbClr val="935BBC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5364" y="3201416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GRIND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55364" y="3477768"/>
            <a:ext cx="286664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Manobra em que os trucks deslizam sobre bordas ou corrimãos.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244848"/>
            <a:ext cx="3232404" cy="1212088"/>
          </a:xfrm>
          <a:prstGeom prst="roundRect">
            <a:avLst>
              <a:gd name="adj" fmla="val 7544"/>
            </a:avLst>
          </a:prstGeom>
          <a:solidFill>
            <a:srgbClr val="E8D4B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09440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BOARDSLIDE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685792"/>
            <a:ext cx="286664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Quando o meio do shape desliza sobre o obstáculo.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72484" y="4244848"/>
            <a:ext cx="3232404" cy="1212088"/>
          </a:xfrm>
          <a:prstGeom prst="roundRect">
            <a:avLst>
              <a:gd name="adj" fmla="val 7544"/>
            </a:avLst>
          </a:prstGeom>
          <a:solidFill>
            <a:srgbClr val="18D7D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55364" y="4409440"/>
            <a:ext cx="2866644" cy="21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SMITH GRIND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55364" y="4685792"/>
            <a:ext cx="286664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Grind em que o truck traseiro desliza enquanto o dianteiro fica inclinado para dentro.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10305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Manual dos Alunos e Responsáveis — Loop Skate Park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90488" y="10305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554480"/>
          </a:xfrm>
          <a:prstGeom prst="rect">
            <a:avLst/>
          </a:prstGeom>
          <a:solidFill>
            <a:srgbClr val="18D7D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14 — JUNTO E MISTURADO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VALORES QUE O SKATE ENSINA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640080" y="1978311"/>
            <a:ext cx="146304" cy="146304"/>
          </a:xfrm>
          <a:prstGeom prst="rect">
            <a:avLst/>
          </a:prstGeom>
          <a:solidFill>
            <a:srgbClr val="18D7D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38528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Respeito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365566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640080" y="2515076"/>
            <a:ext cx="146304" cy="146304"/>
          </a:xfrm>
          <a:prstGeom prst="rect">
            <a:avLst/>
          </a:prstGeom>
          <a:solidFill>
            <a:srgbClr val="18D7D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475294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Cooperação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02331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640080" y="3051842"/>
            <a:ext cx="146304" cy="146304"/>
          </a:xfrm>
          <a:prstGeom prst="rect">
            <a:avLst/>
          </a:prstGeom>
          <a:solidFill>
            <a:srgbClr val="18D7D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012059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Empatia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439097"/>
            <a:ext cx="6647688" cy="445326"/>
          </a:xfrm>
          <a:prstGeom prst="roundRect">
            <a:avLst>
              <a:gd name="adj" fmla="val 1642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640080" y="3588607"/>
            <a:ext cx="146304" cy="146304"/>
          </a:xfrm>
          <a:prstGeom prst="rect">
            <a:avLst/>
          </a:prstGeom>
          <a:solidFill>
            <a:srgbClr val="18D7D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548825"/>
            <a:ext cx="5971032" cy="22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Pertencimento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049014"/>
            <a:ext cx="6647688" cy="1392936"/>
          </a:xfrm>
          <a:prstGeom prst="roundRect">
            <a:avLst>
              <a:gd name="adj" fmla="val 9190"/>
            </a:avLst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68470"/>
            <a:ext cx="6099048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AQUI NA LOOP NINGUÉM ANDA SOZINHO! DURANTE AS AULAS TRABALHAMOS O RESPEITO, A COOPERAÇÃO, A ESCUTA E A DIVERSIDADE. O ESPORTE É COLETIVO: APRENDEMOS JUNTOS, CAÍMOS JUNTOS E COMEMORAMOS JUNTOS!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10305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Manual dos Alunos e Responsáveis — Loop Skate Park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90488" y="10305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554480"/>
          </a:xfrm>
          <a:prstGeom prst="rect">
            <a:avLst/>
          </a:prstGeom>
          <a:solidFill>
            <a:srgbClr val="935B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15 — FAQ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DÚVIDAS QUE PODEM EXISTIR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6647688" cy="411163"/>
          </a:xfrm>
          <a:prstGeom prst="roundRect">
            <a:avLst>
              <a:gd name="adj" fmla="val 17791"/>
            </a:avLst>
          </a:prstGeom>
          <a:solidFill>
            <a:srgbClr val="18D7D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9384"/>
            <a:ext cx="6281928" cy="20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37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É OBRIGATÓRIO USAR EQUIPAMENTOS DE PROTEÇÃO?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303971"/>
            <a:ext cx="6281928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Sim. Capacete, joelheiras, cotoveleiras e protetores de punho são obrigatórios durante toda a aula.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910523"/>
            <a:ext cx="6647688" cy="411163"/>
          </a:xfrm>
          <a:prstGeom prst="roundRect">
            <a:avLst>
              <a:gd name="adj" fmla="val 17791"/>
            </a:avLst>
          </a:prstGeom>
          <a:solidFill>
            <a:srgbClr val="FFB3D1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11107"/>
            <a:ext cx="6281928" cy="20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37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OS PAIS PODEM ENTRAR NA PISTA?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385693"/>
            <a:ext cx="6281928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Não. Para garantir segurança e concentração dos alunos, pais e responsáveis não podem acessar a pista durante as aulas.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92245"/>
            <a:ext cx="6647688" cy="411163"/>
          </a:xfrm>
          <a:prstGeom prst="roundRect">
            <a:avLst>
              <a:gd name="adj" fmla="val 17791"/>
            </a:avLst>
          </a:prstGeom>
          <a:solidFill>
            <a:srgbClr val="FFB3D1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92829"/>
            <a:ext cx="6281928" cy="20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37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 SE O ALUNO PRECISAR IR AO BANHEIRO DURANTE A AULA?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467416"/>
            <a:ext cx="6281928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Ele deve avisar o professor e aguardar autorização para sair da pista.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875848"/>
            <a:ext cx="6647688" cy="411163"/>
          </a:xfrm>
          <a:prstGeom prst="roundRect">
            <a:avLst>
              <a:gd name="adj" fmla="val 17791"/>
            </a:avLst>
          </a:prstGeom>
          <a:solidFill>
            <a:srgbClr val="FFB3D1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976432"/>
            <a:ext cx="6281928" cy="20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37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ESCOLA FORNECE SKATE E EQUIPAMENTOS?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351018"/>
            <a:ext cx="6281928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Sim, oferecemos equipamentos somente para as primeiras aulas. Recomendamos que, com o tempo, o aluno tenha seu próprio material.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10305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Manual dos Alunos e Responsáveis — Loop Skate Park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190488" y="10305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554480"/>
          </a:xfrm>
          <a:prstGeom prst="rect">
            <a:avLst/>
          </a:prstGeom>
          <a:solidFill>
            <a:srgbClr val="935B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15 — FAQ (CONTINUAÇÃO)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DÚVIDAS QUE PODEM EXISTIR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6647688" cy="411163"/>
          </a:xfrm>
          <a:prstGeom prst="roundRect">
            <a:avLst>
              <a:gd name="adj" fmla="val 17791"/>
            </a:avLst>
          </a:prstGeom>
          <a:solidFill>
            <a:srgbClr val="FFB3D1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9384"/>
            <a:ext cx="6281928" cy="20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37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MEU FILHO PODE SE MACHUCAR?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303971"/>
            <a:ext cx="6281928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Toda atividade física envolve riscos, mas eles são reduzidos com orientação adequada e equipamentos de proteção.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910523"/>
            <a:ext cx="6647688" cy="411163"/>
          </a:xfrm>
          <a:prstGeom prst="roundRect">
            <a:avLst>
              <a:gd name="adj" fmla="val 17791"/>
            </a:avLst>
          </a:prstGeom>
          <a:solidFill>
            <a:srgbClr val="FFB3D1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11107"/>
            <a:ext cx="6281928" cy="20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37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ALUNO PODE PRATICAR SOZINHO ANTES OU DEPOIS DA AULA?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385693"/>
            <a:ext cx="6281928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Somente com autorização do professor e supervisão da equipe.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94125"/>
            <a:ext cx="6647688" cy="411163"/>
          </a:xfrm>
          <a:prstGeom prst="roundRect">
            <a:avLst>
              <a:gd name="adj" fmla="val 17791"/>
            </a:avLst>
          </a:prstGeom>
          <a:solidFill>
            <a:srgbClr val="FFB3D1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94709"/>
            <a:ext cx="6281928" cy="20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37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É SÓ PARA COMPETIR?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269296"/>
            <a:ext cx="6281928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Não. Nosso foco é educativo, recreativo e formativo. Competição é apenas uma das possibilidades.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10305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Manual dos Alunos e Responsáveis — Loop Skate Park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190488" y="10305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935B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6647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Mensagem final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05840" y="2834640"/>
            <a:ext cx="5550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skate não é apenas sobre manobras. É sobre experimentar, persistir, cair, levantar e aprender.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3931920"/>
            <a:ext cx="5550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 Loop Skate Park, cada aluno é parte de uma comunidade que acredita no movimento como ferramenta de educação, cultura e transformação social.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6035040"/>
            <a:ext cx="3931920" cy="27793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Fontes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54864" cy="845312"/>
          </a:xfrm>
          <a:prstGeom prst="rect">
            <a:avLst/>
          </a:prstGeom>
          <a:solidFill>
            <a:srgbClr val="F6C707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1737360"/>
            <a:ext cx="6373368" cy="84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E8E8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ARMBRUST, Igor; LAURO, Flávio Antônio Ascânio.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Skate e educação: proposta metodológica para o ensino do skate no contexto educacional. </a:t>
            </a:r>
            <a:pPr indent="0" marL="0">
              <a:lnSpc>
                <a:spcPts val="1610"/>
              </a:lnSpc>
              <a:buNone/>
            </a:pPr>
            <a:r>
              <a:rPr lang="en-US" sz="1150" i="1" dirty="0">
                <a:solidFill>
                  <a:srgbClr val="E8E8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Motriz: Revista de Educação Física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Rio Claro, v. 16, n. 3, p. 799-807, jul./set. 2010. DOI: http://dx.doi.org/10.5016/1980-6574.2010v16n3p799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2838704"/>
            <a:ext cx="54864" cy="640842"/>
          </a:xfrm>
          <a:prstGeom prst="rect">
            <a:avLst/>
          </a:prstGeom>
          <a:solidFill>
            <a:srgbClr val="F6C707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2838704"/>
            <a:ext cx="6373368" cy="640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E8E8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OLIVEIRA, Carlos Gomes de; PIMENTEL, Giuliano Gomes de Assis.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Fatores associados à prática do skate. </a:t>
            </a:r>
            <a:pPr indent="0" marL="0">
              <a:lnSpc>
                <a:spcPts val="1610"/>
              </a:lnSpc>
              <a:buNone/>
            </a:pPr>
            <a:r>
              <a:rPr lang="en-US" sz="1150" i="1" dirty="0">
                <a:solidFill>
                  <a:srgbClr val="E8E8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Revista Mackenzie de Educação Física e Esporte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São Paulo, v. 14, n. 2, p. 110-119, 2015.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3735578"/>
            <a:ext cx="54864" cy="640842"/>
          </a:xfrm>
          <a:prstGeom prst="rect">
            <a:avLst/>
          </a:prstGeom>
          <a:solidFill>
            <a:srgbClr val="F6C707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3735578"/>
            <a:ext cx="6373368" cy="640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E8E8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SANTOS, Sérgio Ferrarini.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 impacto da prática do skate em domínios motores de crianças e jovens. 2016. Trabalho de Conclusão de Curso (Licenciatura em Educação Física) — Universidade Federal do Rio Grande do Sul, Porto Alegre, 2016.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4632452"/>
            <a:ext cx="54864" cy="436372"/>
          </a:xfrm>
          <a:prstGeom prst="rect">
            <a:avLst/>
          </a:prstGeom>
          <a:solidFill>
            <a:srgbClr val="F6C707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4632452"/>
            <a:ext cx="6373368" cy="436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E8E8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PATRIAL, Vinícius.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pPr indent="0" marL="0">
              <a:lnSpc>
                <a:spcPts val="1610"/>
              </a:lnSpc>
              <a:buNone/>
            </a:pPr>
            <a:r>
              <a:rPr lang="en-US" sz="1150" i="1" dirty="0">
                <a:solidFill>
                  <a:srgbClr val="E8E8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Sk8: manual do pequeno skatista cidadão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1. ed. Companhia das Letrinhas. 2013.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5324856"/>
            <a:ext cx="54864" cy="231902"/>
          </a:xfrm>
          <a:prstGeom prst="rect">
            <a:avLst/>
          </a:prstGeom>
          <a:solidFill>
            <a:srgbClr val="F6C707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5324856"/>
            <a:ext cx="6373368" cy="231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E8E8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TRUTA, Willian.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Grinduation: Como ensinar skate? 1. ed. Curitiba, PR. Compactos, 2023.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6564" y="3017520"/>
            <a:ext cx="3108960" cy="21976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212080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Loop Skate Park • 2026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562356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E8E8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Manual dos alunos e responsáveis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612648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Rua Vila Rica, 1168, 2º andar — Caiçara, Belo Horizonte / MG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8D7D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loopskatepark.com.br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dos Alunos e Responsáveis — Loop Skate Park 2026</dc:title>
  <dc:subject>PptxGenJS Presentation</dc:subject>
  <dc:creator>Loop Skate Park</dc:creator>
  <cp:lastModifiedBy>Loop Skate Park</cp:lastModifiedBy>
  <cp:revision>1</cp:revision>
  <dcterms:created xsi:type="dcterms:W3CDTF">2026-07-08T00:07:34Z</dcterms:created>
  <dcterms:modified xsi:type="dcterms:W3CDTF">2026-07-08T00:07:34Z</dcterms:modified>
</cp:coreProperties>
</file>