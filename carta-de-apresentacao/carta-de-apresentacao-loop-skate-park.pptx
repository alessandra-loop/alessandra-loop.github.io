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a.me/5531982789675" TargetMode="External"/><Relationship Id="rId4" Type="http://schemas.openxmlformats.org/officeDocument/2006/relationships/hyperlink" Target="mailto:contato@loopskatepark.com.br" TargetMode="External"/><Relationship Id="rId5" Type="http://schemas.openxmlformats.org/officeDocument/2006/relationships/hyperlink" Target="https://loopskatepark.com.br" TargetMode="External"/><Relationship Id="rId1" Type="http://schemas.openxmlformats.org/officeDocument/2006/relationships/image" Target="../media/Slide-5-image-1.png"/><Relationship Id="rId2" Type="http://schemas.openxmlformats.org/officeDocument/2006/relationships/image" Target="../media/image-5-2.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alessandra-loop.github.io/script/carta-pptx/.build/logo.png">    </p:cNvPr>
          <p:cNvPicPr>
            <a:picLocks noChangeAspect="1"/>
          </p:cNvPicPr>
          <p:nvPr/>
        </p:nvPicPr>
        <p:blipFill>
          <a:blip r:embed="rId2"/>
          <a:stretch>
            <a:fillRect/>
          </a:stretch>
        </p:blipFill>
        <p:spPr>
          <a:xfrm>
            <a:off x="2409444" y="2464402"/>
            <a:ext cx="2743200" cy="1209867"/>
          </a:xfrm>
          <a:prstGeom prst="rect">
            <a:avLst/>
          </a:prstGeom>
        </p:spPr>
      </p:pic>
      <p:sp>
        <p:nvSpPr>
          <p:cNvPr id="3" name="Text 0"/>
          <p:cNvSpPr/>
          <p:nvPr/>
        </p:nvSpPr>
        <p:spPr>
          <a:xfrm>
            <a:off x="713232" y="4405790"/>
            <a:ext cx="6135624" cy="201168"/>
          </a:xfrm>
          <a:prstGeom prst="rect">
            <a:avLst/>
          </a:prstGeom>
          <a:noFill/>
          <a:ln/>
        </p:spPr>
        <p:txBody>
          <a:bodyPr wrap="square" lIns="0" tIns="0" rIns="0" bIns="0" rtlCol="0" anchor="t"/>
          <a:lstStyle/>
          <a:p>
            <a:pPr algn="ctr" indent="0" marL="0">
              <a:lnSpc>
                <a:spcPts val="1400"/>
              </a:lnSpc>
              <a:buNone/>
            </a:pPr>
            <a:r>
              <a:rPr lang="en-US" sz="1000" b="1" spc="340" kern="0" dirty="0">
                <a:solidFill>
                  <a:srgbClr val="FFFFFF"/>
                </a:solidFill>
                <a:latin typeface="Oswald" pitchFamily="34" charset="0"/>
                <a:ea typeface="Oswald" pitchFamily="34" charset="-122"/>
                <a:cs typeface="Oswald" pitchFamily="34" charset="-120"/>
              </a:rPr>
              <a:t>LOOP SKATE PARK · BELO HORIZONTE / MG</a:t>
            </a:r>
            <a:endParaRPr lang="en-US" sz="1000" dirty="0"/>
          </a:p>
        </p:txBody>
      </p:sp>
      <p:sp>
        <p:nvSpPr>
          <p:cNvPr id="4" name="Text 1"/>
          <p:cNvSpPr/>
          <p:nvPr/>
        </p:nvSpPr>
        <p:spPr>
          <a:xfrm>
            <a:off x="713232" y="5027582"/>
            <a:ext cx="6135624" cy="1478280"/>
          </a:xfrm>
          <a:prstGeom prst="rect">
            <a:avLst/>
          </a:prstGeom>
          <a:noFill/>
          <a:ln/>
        </p:spPr>
        <p:txBody>
          <a:bodyPr wrap="square" lIns="0" tIns="0" rIns="0" bIns="0" rtlCol="0" anchor="t"/>
          <a:lstStyle/>
          <a:p>
            <a:pPr algn="ctr" indent="0" marL="0">
              <a:lnSpc>
                <a:spcPts val="5100"/>
              </a:lnSpc>
              <a:buNone/>
            </a:pPr>
            <a:r>
              <a:rPr lang="en-US" sz="4600" dirty="0">
                <a:solidFill>
                  <a:srgbClr val="FFFFFF"/>
                </a:solidFill>
                <a:latin typeface="Anton" pitchFamily="34" charset="0"/>
                <a:ea typeface="Anton" pitchFamily="34" charset="-122"/>
                <a:cs typeface="Anton" pitchFamily="34" charset="-120"/>
              </a:rPr>
              <a:t>CARTA DE</a:t>
            </a:r>
            <a:endParaRPr lang="en-US" sz="4600" dirty="0"/>
          </a:p>
          <a:p>
            <a:pPr algn="ctr" indent="0" marL="0">
              <a:lnSpc>
                <a:spcPts val="5100"/>
              </a:lnSpc>
              <a:buNone/>
            </a:pPr>
            <a:r>
              <a:rPr lang="en-US" sz="4600" dirty="0">
                <a:solidFill>
                  <a:srgbClr val="FFFFFF"/>
                </a:solidFill>
                <a:latin typeface="Anton" pitchFamily="34" charset="0"/>
                <a:ea typeface="Anton" pitchFamily="34" charset="-122"/>
                <a:cs typeface="Anton" pitchFamily="34" charset="-120"/>
              </a:rPr>
              <a:t>APRESENTAÇÃO</a:t>
            </a:r>
            <a:endParaRPr lang="en-US" sz="4600" dirty="0"/>
          </a:p>
        </p:txBody>
      </p:sp>
      <p:sp>
        <p:nvSpPr>
          <p:cNvPr id="5" name="Shape 2"/>
          <p:cNvSpPr/>
          <p:nvPr/>
        </p:nvSpPr>
        <p:spPr>
          <a:xfrm>
            <a:off x="3072384" y="6743606"/>
            <a:ext cx="1417320" cy="402336"/>
          </a:xfrm>
          <a:prstGeom prst="roundRect">
            <a:avLst>
              <a:gd name="adj" fmla="val 50000"/>
            </a:avLst>
          </a:prstGeom>
          <a:solidFill>
            <a:srgbClr val="F6C707"/>
          </a:solidFill>
          <a:ln/>
        </p:spPr>
      </p:sp>
      <p:sp>
        <p:nvSpPr>
          <p:cNvPr id="6" name="Text 3"/>
          <p:cNvSpPr/>
          <p:nvPr/>
        </p:nvSpPr>
        <p:spPr>
          <a:xfrm>
            <a:off x="3072384" y="6835046"/>
            <a:ext cx="1417320" cy="237744"/>
          </a:xfrm>
          <a:prstGeom prst="rect">
            <a:avLst/>
          </a:prstGeom>
          <a:noFill/>
          <a:ln/>
        </p:spPr>
        <p:txBody>
          <a:bodyPr wrap="square" lIns="0" tIns="0" rIns="0" bIns="0" rtlCol="0" anchor="t"/>
          <a:lstStyle/>
          <a:p>
            <a:pPr algn="ctr" indent="0" marL="0">
              <a:lnSpc>
                <a:spcPts val="1800"/>
              </a:lnSpc>
              <a:buNone/>
            </a:pPr>
            <a:r>
              <a:rPr lang="en-US" sz="1400" b="1" spc="500" kern="0" dirty="0">
                <a:solidFill>
                  <a:srgbClr val="000000"/>
                </a:solidFill>
                <a:latin typeface="Oswald" pitchFamily="34" charset="0"/>
                <a:ea typeface="Oswald" pitchFamily="34" charset="-122"/>
                <a:cs typeface="Oswald" pitchFamily="34" charset="-120"/>
              </a:rPr>
              <a:t>2026</a:t>
            </a:r>
            <a:endParaRPr lang="en-US" sz="1400" dirty="0"/>
          </a:p>
        </p:txBody>
      </p:sp>
      <p:sp>
        <p:nvSpPr>
          <p:cNvPr id="7" name="Text 4"/>
          <p:cNvSpPr/>
          <p:nvPr/>
        </p:nvSpPr>
        <p:spPr>
          <a:xfrm>
            <a:off x="713232" y="7658006"/>
            <a:ext cx="6135624" cy="274320"/>
          </a:xfrm>
          <a:prstGeom prst="rect">
            <a:avLst/>
          </a:prstGeom>
          <a:noFill/>
          <a:ln/>
        </p:spPr>
        <p:txBody>
          <a:bodyPr wrap="square" lIns="0" tIns="0" rIns="0" bIns="0" rtlCol="0" anchor="t"/>
          <a:lstStyle/>
          <a:p>
            <a:pPr algn="ctr" indent="0" marL="0">
              <a:lnSpc>
                <a:spcPts val="1700"/>
              </a:lnSpc>
              <a:buNone/>
            </a:pPr>
            <a:r>
              <a:rPr lang="en-US" sz="1250" dirty="0">
                <a:solidFill>
                  <a:srgbClr val="FFFFFF"/>
                </a:solidFill>
                <a:latin typeface="Barlow" pitchFamily="34" charset="0"/>
                <a:ea typeface="Barlow" pitchFamily="34" charset="-122"/>
                <a:cs typeface="Barlow" pitchFamily="34" charset="-120"/>
              </a:rPr>
              <a:t>Esporte, arte e cultura urbana</a:t>
            </a:r>
            <a:endParaRPr lang="en-US" sz="1250" dirty="0"/>
          </a:p>
        </p:txBody>
      </p:sp>
      <p:sp>
        <p:nvSpPr>
          <p:cNvPr id="8" name="Shape 5"/>
          <p:cNvSpPr/>
          <p:nvPr/>
        </p:nvSpPr>
        <p:spPr>
          <a:xfrm>
            <a:off x="713232" y="9628632"/>
            <a:ext cx="6135624" cy="18288"/>
          </a:xfrm>
          <a:prstGeom prst="rect">
            <a:avLst/>
          </a:prstGeom>
          <a:solidFill>
            <a:srgbClr val="FFFFFF"/>
          </a:solidFill>
          <a:ln/>
        </p:spPr>
      </p:sp>
      <p:sp>
        <p:nvSpPr>
          <p:cNvPr id="9" name="Text 6"/>
          <p:cNvSpPr/>
          <p:nvPr/>
        </p:nvSpPr>
        <p:spPr>
          <a:xfrm>
            <a:off x="713232" y="9811512"/>
            <a:ext cx="6135624" cy="237744"/>
          </a:xfrm>
          <a:prstGeom prst="rect">
            <a:avLst/>
          </a:prstGeom>
          <a:noFill/>
          <a:ln/>
        </p:spPr>
        <p:txBody>
          <a:bodyPr wrap="square" lIns="0" tIns="0" rIns="0" bIns="0" rtlCol="0" anchor="t"/>
          <a:lstStyle/>
          <a:p>
            <a:pPr algn="ctr" indent="0" marL="0">
              <a:lnSpc>
                <a:spcPts val="1400"/>
              </a:lnSpc>
              <a:buNone/>
            </a:pPr>
            <a:r>
              <a:rPr lang="en-US" sz="1000" b="1" spc="240" kern="0" dirty="0">
                <a:solidFill>
                  <a:srgbClr val="FFFFFF"/>
                </a:solidFill>
                <a:latin typeface="Oswald" pitchFamily="34" charset="0"/>
                <a:ea typeface="Oswald" pitchFamily="34" charset="-122"/>
                <a:cs typeface="Oswald" pitchFamily="34" charset="-120"/>
              </a:rPr>
              <a:t>loopskatepark.com.br   ·   @loopskatepark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62088" cy="1686610"/>
          </a:xfrm>
          <a:prstGeom prst="rect">
            <a:avLst/>
          </a:prstGeom>
          <a:solidFill>
            <a:srgbClr val="18D7DF"/>
          </a:solidFill>
          <a:ln/>
        </p:spPr>
      </p:sp>
      <p:pic>
        <p:nvPicPr>
          <p:cNvPr id="3" name="Image 0" descr="/home/user/alessandra-loop.github.io/script/carta-pptx/.build/tex-band-2.png">    </p:cNvPr>
          <p:cNvPicPr>
            <a:picLocks noChangeAspect="1"/>
          </p:cNvPicPr>
          <p:nvPr/>
        </p:nvPicPr>
        <p:blipFill>
          <a:blip r:embed="rId1">
            <a:alphaModFix amt="14000"/>
          </a:blip>
          <a:stretch>
            <a:fillRect/>
          </a:stretch>
        </p:blipFill>
        <p:spPr>
          <a:xfrm>
            <a:off x="0" y="0"/>
            <a:ext cx="7562088" cy="1686610"/>
          </a:xfrm>
          <a:prstGeom prst="rect">
            <a:avLst/>
          </a:prstGeom>
        </p:spPr>
      </p:pic>
      <p:sp>
        <p:nvSpPr>
          <p:cNvPr id="4" name="Text 1"/>
          <p:cNvSpPr/>
          <p:nvPr/>
        </p:nvSpPr>
        <p:spPr>
          <a:xfrm>
            <a:off x="713232" y="493776"/>
            <a:ext cx="6135624" cy="201168"/>
          </a:xfrm>
          <a:prstGeom prst="rect">
            <a:avLst/>
          </a:prstGeom>
          <a:noFill/>
          <a:ln/>
        </p:spPr>
        <p:txBody>
          <a:bodyPr wrap="square" lIns="0" tIns="0" rIns="0" bIns="0" rtlCol="0" anchor="t"/>
          <a:lstStyle/>
          <a:p>
            <a:pPr indent="0" marL="0">
              <a:lnSpc>
                <a:spcPts val="1300"/>
              </a:lnSpc>
              <a:buNone/>
            </a:pPr>
            <a:r>
              <a:rPr lang="en-US" sz="1000" b="1" spc="320" kern="0" dirty="0">
                <a:solidFill>
                  <a:srgbClr val="000000"/>
                </a:solidFill>
                <a:latin typeface="Oswald" pitchFamily="34" charset="0"/>
                <a:ea typeface="Oswald" pitchFamily="34" charset="-122"/>
                <a:cs typeface="Oswald" pitchFamily="34" charset="-120"/>
              </a:rPr>
              <a:t>QUEM SOMOS</a:t>
            </a:r>
            <a:endParaRPr lang="en-US" sz="1000" dirty="0"/>
          </a:p>
        </p:txBody>
      </p:sp>
      <p:sp>
        <p:nvSpPr>
          <p:cNvPr id="5" name="Text 2"/>
          <p:cNvSpPr/>
          <p:nvPr/>
        </p:nvSpPr>
        <p:spPr>
          <a:xfrm>
            <a:off x="713232" y="877824"/>
            <a:ext cx="6135624" cy="497890"/>
          </a:xfrm>
          <a:prstGeom prst="rect">
            <a:avLst/>
          </a:prstGeom>
          <a:noFill/>
          <a:ln/>
        </p:spPr>
        <p:txBody>
          <a:bodyPr wrap="square" lIns="0" tIns="0" rIns="0" bIns="0" rtlCol="0" anchor="t"/>
          <a:lstStyle/>
          <a:p>
            <a:pPr indent="0" marL="0">
              <a:lnSpc>
                <a:spcPts val="3200"/>
              </a:lnSpc>
              <a:buNone/>
            </a:pPr>
            <a:r>
              <a:rPr lang="en-US" sz="3000" dirty="0">
                <a:solidFill>
                  <a:srgbClr val="000000"/>
                </a:solidFill>
                <a:latin typeface="Anton" pitchFamily="34" charset="0"/>
                <a:ea typeface="Anton" pitchFamily="34" charset="-122"/>
                <a:cs typeface="Anton" pitchFamily="34" charset="-120"/>
              </a:rPr>
              <a:t>OLÁ!</a:t>
            </a:r>
            <a:endParaRPr lang="en-US" sz="3000" dirty="0"/>
          </a:p>
        </p:txBody>
      </p:sp>
      <p:sp>
        <p:nvSpPr>
          <p:cNvPr id="6" name="Shape 3"/>
          <p:cNvSpPr/>
          <p:nvPr/>
        </p:nvSpPr>
        <p:spPr>
          <a:xfrm>
            <a:off x="713232" y="2189530"/>
            <a:ext cx="91440" cy="617827"/>
          </a:xfrm>
          <a:prstGeom prst="rect">
            <a:avLst/>
          </a:prstGeom>
          <a:solidFill>
            <a:srgbClr val="F6C707"/>
          </a:solidFill>
          <a:ln/>
        </p:spPr>
      </p:sp>
      <p:sp>
        <p:nvSpPr>
          <p:cNvPr id="7" name="Text 4"/>
          <p:cNvSpPr/>
          <p:nvPr/>
        </p:nvSpPr>
        <p:spPr>
          <a:xfrm>
            <a:off x="987552" y="2216962"/>
            <a:ext cx="5861304" cy="581251"/>
          </a:xfrm>
          <a:prstGeom prst="rect">
            <a:avLst/>
          </a:prstGeom>
          <a:noFill/>
          <a:ln/>
        </p:spPr>
        <p:txBody>
          <a:bodyPr wrap="square" lIns="0" tIns="0" rIns="0" bIns="0" rtlCol="0" anchor="t"/>
          <a:lstStyle/>
          <a:p>
            <a:pPr indent="0" marL="0">
              <a:lnSpc>
                <a:spcPts val="2000"/>
              </a:lnSpc>
              <a:buNone/>
            </a:pPr>
            <a:r>
              <a:rPr lang="en-US" sz="1300" dirty="0">
                <a:solidFill>
                  <a:srgbClr val="111111"/>
                </a:solidFill>
                <a:latin typeface="Barlow" pitchFamily="34" charset="0"/>
                <a:ea typeface="Barlow" pitchFamily="34" charset="-122"/>
                <a:cs typeface="Barlow" pitchFamily="34" charset="-120"/>
              </a:rPr>
              <a:t>Somos a </a:t>
            </a:r>
            <a:pPr indent="0" marL="0">
              <a:lnSpc>
                <a:spcPts val="2000"/>
              </a:lnSpc>
              <a:buNone/>
            </a:pPr>
            <a:r>
              <a:rPr lang="en-US" sz="1300" b="1" dirty="0">
                <a:solidFill>
                  <a:srgbClr val="111111"/>
                </a:solidFill>
                <a:latin typeface="Barlow" pitchFamily="34" charset="0"/>
                <a:ea typeface="Barlow" pitchFamily="34" charset="-122"/>
                <a:cs typeface="Barlow" pitchFamily="34" charset="-120"/>
              </a:rPr>
              <a:t>Loop Skate Park</a:t>
            </a:r>
            <a:pPr indent="0" marL="0">
              <a:lnSpc>
                <a:spcPts val="2000"/>
              </a:lnSpc>
              <a:buNone/>
            </a:pPr>
            <a:r>
              <a:rPr lang="en-US" sz="1300" dirty="0">
                <a:solidFill>
                  <a:srgbClr val="111111"/>
                </a:solidFill>
                <a:latin typeface="Barlow" pitchFamily="34" charset="0"/>
                <a:ea typeface="Barlow" pitchFamily="34" charset="-122"/>
                <a:cs typeface="Barlow" pitchFamily="34" charset="-120"/>
              </a:rPr>
              <a:t>, uma escola e espaço de convivência dedicado ao skate e ao patins, em Belo Horizonte.</a:t>
            </a:r>
            <a:endParaRPr lang="en-US" sz="1300" dirty="0"/>
          </a:p>
        </p:txBody>
      </p:sp>
      <p:sp>
        <p:nvSpPr>
          <p:cNvPr id="8" name="Text 5"/>
          <p:cNvSpPr/>
          <p:nvPr/>
        </p:nvSpPr>
        <p:spPr>
          <a:xfrm>
            <a:off x="713232" y="3143823"/>
            <a:ext cx="6135624" cy="702713"/>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A Loop nasceu de um sonho compartilhado por quatro pessoas com trajetórias diferentes, mas unidas pelo esporte, pela cultura e pelo desejo de construir uma comunidade: </a:t>
            </a:r>
            <a:pPr indent="0" marL="0">
              <a:lnSpc>
                <a:spcPts val="1700"/>
              </a:lnSpc>
              <a:buNone/>
            </a:pPr>
            <a:r>
              <a:rPr lang="en-US" sz="1100" b="1" dirty="0">
                <a:solidFill>
                  <a:srgbClr val="111111"/>
                </a:solidFill>
                <a:latin typeface="Barlow" pitchFamily="34" charset="0"/>
                <a:ea typeface="Barlow" pitchFamily="34" charset="-122"/>
                <a:cs typeface="Barlow" pitchFamily="34" charset="-120"/>
              </a:rPr>
              <a:t>Raphael Alves</a:t>
            </a:r>
            <a:pPr indent="0" marL="0">
              <a:lnSpc>
                <a:spcPts val="1700"/>
              </a:lnSpc>
              <a:buNone/>
            </a:pPr>
            <a:r>
              <a:rPr lang="en-US" sz="1100" dirty="0">
                <a:solidFill>
                  <a:srgbClr val="111111"/>
                </a:solidFill>
                <a:latin typeface="Barlow" pitchFamily="34" charset="0"/>
                <a:ea typeface="Barlow" pitchFamily="34" charset="-122"/>
                <a:cs typeface="Barlow" pitchFamily="34" charset="-120"/>
              </a:rPr>
              <a:t>, </a:t>
            </a:r>
            <a:pPr indent="0" marL="0">
              <a:lnSpc>
                <a:spcPts val="1700"/>
              </a:lnSpc>
              <a:buNone/>
            </a:pPr>
            <a:r>
              <a:rPr lang="en-US" sz="1100" b="1" dirty="0">
                <a:solidFill>
                  <a:srgbClr val="111111"/>
                </a:solidFill>
                <a:latin typeface="Barlow" pitchFamily="34" charset="0"/>
                <a:ea typeface="Barlow" pitchFamily="34" charset="-122"/>
                <a:cs typeface="Barlow" pitchFamily="34" charset="-120"/>
              </a:rPr>
              <a:t>Lorena Fernanda</a:t>
            </a:r>
            <a:pPr indent="0" marL="0">
              <a:lnSpc>
                <a:spcPts val="1700"/>
              </a:lnSpc>
              <a:buNone/>
            </a:pPr>
            <a:r>
              <a:rPr lang="en-US" sz="1100" dirty="0">
                <a:solidFill>
                  <a:srgbClr val="111111"/>
                </a:solidFill>
                <a:latin typeface="Barlow" pitchFamily="34" charset="0"/>
                <a:ea typeface="Barlow" pitchFamily="34" charset="-122"/>
                <a:cs typeface="Barlow" pitchFamily="34" charset="-120"/>
              </a:rPr>
              <a:t>, </a:t>
            </a:r>
            <a:pPr indent="0" marL="0">
              <a:lnSpc>
                <a:spcPts val="1700"/>
              </a:lnSpc>
              <a:buNone/>
            </a:pPr>
            <a:r>
              <a:rPr lang="en-US" sz="1100" b="1" dirty="0">
                <a:solidFill>
                  <a:srgbClr val="111111"/>
                </a:solidFill>
                <a:latin typeface="Barlow" pitchFamily="34" charset="0"/>
                <a:ea typeface="Barlow" pitchFamily="34" charset="-122"/>
                <a:cs typeface="Barlow" pitchFamily="34" charset="-120"/>
              </a:rPr>
              <a:t>Alessandra Aguiar</a:t>
            </a:r>
            <a:pPr indent="0" marL="0">
              <a:lnSpc>
                <a:spcPts val="1700"/>
              </a:lnSpc>
              <a:buNone/>
            </a:pPr>
            <a:r>
              <a:rPr lang="en-US" sz="1100" dirty="0">
                <a:solidFill>
                  <a:srgbClr val="111111"/>
                </a:solidFill>
                <a:latin typeface="Barlow" pitchFamily="34" charset="0"/>
                <a:ea typeface="Barlow" pitchFamily="34" charset="-122"/>
                <a:cs typeface="Barlow" pitchFamily="34" charset="-120"/>
              </a:rPr>
              <a:t> e </a:t>
            </a:r>
            <a:pPr indent="0" marL="0">
              <a:lnSpc>
                <a:spcPts val="1700"/>
              </a:lnSpc>
              <a:buNone/>
            </a:pPr>
            <a:r>
              <a:rPr lang="en-US" sz="1100" b="1" dirty="0">
                <a:solidFill>
                  <a:srgbClr val="111111"/>
                </a:solidFill>
                <a:latin typeface="Barlow" pitchFamily="34" charset="0"/>
                <a:ea typeface="Barlow" pitchFamily="34" charset="-122"/>
                <a:cs typeface="Barlow" pitchFamily="34" charset="-120"/>
              </a:rPr>
              <a:t>Douglas Aguiar</a:t>
            </a:r>
            <a:pPr indent="0" marL="0">
              <a:lnSpc>
                <a:spcPts val="1700"/>
              </a:lnSpc>
              <a:buNone/>
            </a:pPr>
            <a:r>
              <a:rPr lang="en-US" sz="1100" dirty="0">
                <a:solidFill>
                  <a:srgbClr val="111111"/>
                </a:solidFill>
                <a:latin typeface="Barlow" pitchFamily="34" charset="0"/>
                <a:ea typeface="Barlow" pitchFamily="34" charset="-122"/>
                <a:cs typeface="Barlow" pitchFamily="34" charset="-120"/>
              </a:rPr>
              <a:t>.</a:t>
            </a:r>
            <a:endParaRPr lang="en-US" sz="1100" dirty="0"/>
          </a:p>
        </p:txBody>
      </p:sp>
      <p:sp>
        <p:nvSpPr>
          <p:cNvPr id="9" name="Text 6"/>
          <p:cNvSpPr/>
          <p:nvPr/>
        </p:nvSpPr>
        <p:spPr>
          <a:xfrm>
            <a:off x="713232" y="4030965"/>
            <a:ext cx="6135624" cy="918662"/>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Mais do que uma pista ou uma escola de esporte, queremos construir em Belo Horizonte um espaço onde esporte, cultura, educação, arte e convivência possam caminhar juntos. Acreditamos que o skate e o patins são ferramentas potentes para desenvolver autonomia, confiança, criatividade, respeito e senso de pertencimento.</a:t>
            </a:r>
            <a:endParaRPr lang="en-US" sz="1100" dirty="0"/>
          </a:p>
        </p:txBody>
      </p:sp>
      <p:sp>
        <p:nvSpPr>
          <p:cNvPr id="10" name="Text 7"/>
          <p:cNvSpPr/>
          <p:nvPr/>
        </p:nvSpPr>
        <p:spPr>
          <a:xfrm>
            <a:off x="713232" y="5134056"/>
            <a:ext cx="6135624" cy="1134612"/>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A Loop foi criada para receber pessoas de diferentes idades e experiências. Queremos que cada pessoa encontre aqui um espaço para aprender, evoluir no seu próprio ritmo, fazer amizades e se sentir parte de uma comunidade. Também queremos que a Loop seja um espaço conectado à cena do skate e à cultura urbana de Belo Horizonte, recebendo eventos, encontros, oficinas, ações culturais, produções audiovisuais e experiências que aproximem ainda mais o esporte da cidade.</a:t>
            </a:r>
            <a:endParaRPr lang="en-US" sz="1100" dirty="0"/>
          </a:p>
        </p:txBody>
      </p:sp>
      <p:sp>
        <p:nvSpPr>
          <p:cNvPr id="11" name="Shape 8"/>
          <p:cNvSpPr/>
          <p:nvPr/>
        </p:nvSpPr>
        <p:spPr>
          <a:xfrm>
            <a:off x="713232" y="6453097"/>
            <a:ext cx="6135624" cy="729538"/>
          </a:xfrm>
          <a:prstGeom prst="roundRect">
            <a:avLst>
              <a:gd name="adj" fmla="val 20054"/>
            </a:avLst>
          </a:prstGeom>
          <a:solidFill>
            <a:srgbClr val="000000"/>
          </a:solidFill>
          <a:ln/>
        </p:spPr>
      </p:sp>
      <p:sp>
        <p:nvSpPr>
          <p:cNvPr id="12" name="Text 9"/>
          <p:cNvSpPr/>
          <p:nvPr/>
        </p:nvSpPr>
        <p:spPr>
          <a:xfrm>
            <a:off x="1042416" y="6654265"/>
            <a:ext cx="5477256" cy="363778"/>
          </a:xfrm>
          <a:prstGeom prst="rect">
            <a:avLst/>
          </a:prstGeom>
          <a:noFill/>
          <a:ln/>
        </p:spPr>
        <p:txBody>
          <a:bodyPr wrap="square" lIns="0" tIns="0" rIns="0" bIns="0" rtlCol="0" anchor="t"/>
          <a:lstStyle/>
          <a:p>
            <a:pPr indent="0" marL="0">
              <a:lnSpc>
                <a:spcPts val="2000"/>
              </a:lnSpc>
              <a:buNone/>
            </a:pPr>
            <a:r>
              <a:rPr lang="en-US" sz="1550" dirty="0">
                <a:solidFill>
                  <a:srgbClr val="FFFFFF"/>
                </a:solidFill>
                <a:latin typeface="Anton" pitchFamily="34" charset="0"/>
                <a:ea typeface="Anton" pitchFamily="34" charset="-122"/>
                <a:cs typeface="Anton" pitchFamily="34" charset="-120"/>
              </a:rPr>
              <a:t>E É POR ISSO QUE ESTAMOS PROCURANDO PARCEIROS.</a:t>
            </a:r>
            <a:endParaRPr lang="en-US" sz="1550" dirty="0"/>
          </a:p>
        </p:txBody>
      </p:sp>
      <p:sp>
        <p:nvSpPr>
          <p:cNvPr id="13" name="Shape 10"/>
          <p:cNvSpPr/>
          <p:nvPr/>
        </p:nvSpPr>
        <p:spPr>
          <a:xfrm rot="10800000">
            <a:off x="6245352" y="7173491"/>
            <a:ext cx="237744" cy="182880"/>
          </a:xfrm>
          <a:prstGeom prst="triangle">
            <a:avLst/>
          </a:prstGeom>
          <a:solidFill>
            <a:srgbClr val="000000"/>
          </a:solidFill>
          <a:ln/>
        </p:spPr>
      </p:sp>
      <p:sp>
        <p:nvSpPr>
          <p:cNvPr id="14" name="Shape 11"/>
          <p:cNvSpPr/>
          <p:nvPr/>
        </p:nvSpPr>
        <p:spPr>
          <a:xfrm>
            <a:off x="681228" y="7589334"/>
            <a:ext cx="3040380" cy="1892808"/>
          </a:xfrm>
          <a:prstGeom prst="rect">
            <a:avLst/>
          </a:prstGeom>
          <a:solidFill>
            <a:srgbClr val="000000"/>
          </a:solidFill>
          <a:ln/>
        </p:spPr>
      </p:sp>
      <p:pic>
        <p:nvPicPr>
          <p:cNvPr id="15" name="Image 1" descr="/home/user/alessandra-loop.github.io/script/carta-pptx/.build/foto-pista.jpg">    </p:cNvPr>
          <p:cNvPicPr>
            <a:picLocks noChangeAspect="1"/>
          </p:cNvPicPr>
          <p:nvPr/>
        </p:nvPicPr>
        <p:blipFill>
          <a:blip r:embed="rId2"/>
          <a:stretch>
            <a:fillRect/>
          </a:stretch>
        </p:blipFill>
        <p:spPr>
          <a:xfrm>
            <a:off x="713232" y="7621338"/>
            <a:ext cx="2976372" cy="1828800"/>
          </a:xfrm>
          <a:prstGeom prst="rect">
            <a:avLst/>
          </a:prstGeom>
        </p:spPr>
      </p:pic>
      <p:sp>
        <p:nvSpPr>
          <p:cNvPr id="16" name="Text 12"/>
          <p:cNvSpPr/>
          <p:nvPr/>
        </p:nvSpPr>
        <p:spPr>
          <a:xfrm>
            <a:off x="713232" y="9559866"/>
            <a:ext cx="2976372" cy="173736"/>
          </a:xfrm>
          <a:prstGeom prst="rect">
            <a:avLst/>
          </a:prstGeom>
          <a:noFill/>
          <a:ln/>
        </p:spPr>
        <p:txBody>
          <a:bodyPr wrap="square" lIns="0" tIns="0" rIns="0" bIns="0" rtlCol="0" anchor="t"/>
          <a:lstStyle/>
          <a:p>
            <a:pPr indent="0" marL="0">
              <a:lnSpc>
                <a:spcPts val="1250"/>
              </a:lnSpc>
              <a:buNone/>
            </a:pPr>
            <a:r>
              <a:rPr lang="en-US" sz="900" b="1" spc="160" kern="0" dirty="0">
                <a:solidFill>
                  <a:srgbClr val="444444"/>
                </a:solidFill>
                <a:latin typeface="Oswald" pitchFamily="34" charset="0"/>
                <a:ea typeface="Oswald" pitchFamily="34" charset="-122"/>
                <a:cs typeface="Oswald" pitchFamily="34" charset="-120"/>
              </a:rPr>
              <a:t>PISTA INDOOR — STREET E TRANSIÇÕES</a:t>
            </a:r>
            <a:endParaRPr lang="en-US" sz="900" dirty="0"/>
          </a:p>
        </p:txBody>
      </p:sp>
      <p:sp>
        <p:nvSpPr>
          <p:cNvPr id="17" name="Shape 13"/>
          <p:cNvSpPr/>
          <p:nvPr/>
        </p:nvSpPr>
        <p:spPr>
          <a:xfrm>
            <a:off x="3840480" y="7589334"/>
            <a:ext cx="3040380" cy="1892808"/>
          </a:xfrm>
          <a:prstGeom prst="rect">
            <a:avLst/>
          </a:prstGeom>
          <a:solidFill>
            <a:srgbClr val="000000"/>
          </a:solidFill>
          <a:ln/>
        </p:spPr>
      </p:sp>
      <p:pic>
        <p:nvPicPr>
          <p:cNvPr id="18" name="Image 2" descr="/home/user/alessandra-loop.github.io/script/carta-pptx/.build/foto-recepcao.jpg">    </p:cNvPr>
          <p:cNvPicPr>
            <a:picLocks noChangeAspect="1"/>
          </p:cNvPicPr>
          <p:nvPr/>
        </p:nvPicPr>
        <p:blipFill>
          <a:blip r:embed="rId3"/>
          <a:stretch>
            <a:fillRect/>
          </a:stretch>
        </p:blipFill>
        <p:spPr>
          <a:xfrm>
            <a:off x="3872484" y="7621338"/>
            <a:ext cx="2976372" cy="1828800"/>
          </a:xfrm>
          <a:prstGeom prst="rect">
            <a:avLst/>
          </a:prstGeom>
        </p:spPr>
      </p:pic>
      <p:sp>
        <p:nvSpPr>
          <p:cNvPr id="19" name="Text 14"/>
          <p:cNvSpPr/>
          <p:nvPr/>
        </p:nvSpPr>
        <p:spPr>
          <a:xfrm>
            <a:off x="3872484" y="9559866"/>
            <a:ext cx="2976372" cy="173736"/>
          </a:xfrm>
          <a:prstGeom prst="rect">
            <a:avLst/>
          </a:prstGeom>
          <a:noFill/>
          <a:ln/>
        </p:spPr>
        <p:txBody>
          <a:bodyPr wrap="square" lIns="0" tIns="0" rIns="0" bIns="0" rtlCol="0" anchor="t"/>
          <a:lstStyle/>
          <a:p>
            <a:pPr indent="0" marL="0">
              <a:lnSpc>
                <a:spcPts val="1250"/>
              </a:lnSpc>
              <a:buNone/>
            </a:pPr>
            <a:r>
              <a:rPr lang="en-US" sz="900" b="1" spc="160" kern="0" dirty="0">
                <a:solidFill>
                  <a:srgbClr val="444444"/>
                </a:solidFill>
                <a:latin typeface="Oswald" pitchFamily="34" charset="0"/>
                <a:ea typeface="Oswald" pitchFamily="34" charset="-122"/>
                <a:cs typeface="Oswald" pitchFamily="34" charset="-120"/>
              </a:rPr>
              <a:t>RECEPÇÃO E CONVIVÊNCIA</a:t>
            </a:r>
            <a:endParaRPr lang="en-US" sz="900" dirty="0"/>
          </a:p>
        </p:txBody>
      </p:sp>
      <p:sp>
        <p:nvSpPr>
          <p:cNvPr id="20" name="Shape 15"/>
          <p:cNvSpPr/>
          <p:nvPr/>
        </p:nvSpPr>
        <p:spPr>
          <a:xfrm>
            <a:off x="713232" y="10122408"/>
            <a:ext cx="6135624" cy="18288"/>
          </a:xfrm>
          <a:prstGeom prst="rect">
            <a:avLst/>
          </a:prstGeom>
          <a:solidFill>
            <a:srgbClr val="000000"/>
          </a:solidFill>
          <a:ln/>
        </p:spPr>
      </p:sp>
      <p:sp>
        <p:nvSpPr>
          <p:cNvPr id="21" name="Text 16"/>
          <p:cNvSpPr/>
          <p:nvPr/>
        </p:nvSpPr>
        <p:spPr>
          <a:xfrm>
            <a:off x="713232" y="10250424"/>
            <a:ext cx="5586984" cy="182880"/>
          </a:xfrm>
          <a:prstGeom prst="rect">
            <a:avLst/>
          </a:prstGeom>
          <a:noFill/>
          <a:ln/>
        </p:spPr>
        <p:txBody>
          <a:bodyPr wrap="square" lIns="0" tIns="0" rIns="0" bIns="0" rtlCol="0" anchor="t"/>
          <a:lstStyle/>
          <a:p>
            <a:pPr indent="0" marL="0">
              <a:lnSpc>
                <a:spcPts val="1100"/>
              </a:lnSpc>
              <a:buNone/>
            </a:pPr>
            <a:r>
              <a:rPr lang="en-US" sz="800" spc="160" kern="0" dirty="0">
                <a:solidFill>
                  <a:srgbClr val="555555"/>
                </a:solidFill>
                <a:latin typeface="Oswald" pitchFamily="34" charset="0"/>
                <a:ea typeface="Oswald" pitchFamily="34" charset="-122"/>
                <a:cs typeface="Oswald" pitchFamily="34" charset="-120"/>
              </a:rPr>
              <a:t>Loop Skate Park · Carta de apresentação · 2026</a:t>
            </a:r>
            <a:endParaRPr lang="en-US" sz="800" dirty="0"/>
          </a:p>
        </p:txBody>
      </p:sp>
      <p:sp>
        <p:nvSpPr>
          <p:cNvPr id="22" name="Text 17"/>
          <p:cNvSpPr/>
          <p:nvPr/>
        </p:nvSpPr>
        <p:spPr>
          <a:xfrm>
            <a:off x="6300216" y="10232136"/>
            <a:ext cx="548640" cy="219456"/>
          </a:xfrm>
          <a:prstGeom prst="rect">
            <a:avLst/>
          </a:prstGeom>
          <a:noFill/>
          <a:ln/>
        </p:spPr>
        <p:txBody>
          <a:bodyPr wrap="square" lIns="0" tIns="0" rIns="0" bIns="0" rtlCol="0" anchor="t"/>
          <a:lstStyle/>
          <a:p>
            <a:pPr algn="r" indent="0" marL="0">
              <a:lnSpc>
                <a:spcPts val="1200"/>
              </a:lnSpc>
              <a:buNone/>
            </a:pPr>
            <a:r>
              <a:rPr lang="en-US" sz="1000" dirty="0">
                <a:solidFill>
                  <a:srgbClr val="000000"/>
                </a:solidFill>
                <a:latin typeface="Anton" pitchFamily="34" charset="0"/>
                <a:ea typeface="Anton" pitchFamily="34" charset="-122"/>
                <a:cs typeface="Anton"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62088" cy="1686610"/>
          </a:xfrm>
          <a:prstGeom prst="rect">
            <a:avLst/>
          </a:prstGeom>
          <a:solidFill>
            <a:srgbClr val="FFB3D1"/>
          </a:solidFill>
          <a:ln/>
        </p:spPr>
      </p:sp>
      <p:pic>
        <p:nvPicPr>
          <p:cNvPr id="3" name="Image 0" descr="/home/user/alessandra-loop.github.io/script/carta-pptx/.build/tex-band-3.png">    </p:cNvPr>
          <p:cNvPicPr>
            <a:picLocks noChangeAspect="1"/>
          </p:cNvPicPr>
          <p:nvPr/>
        </p:nvPicPr>
        <p:blipFill>
          <a:blip r:embed="rId1">
            <a:alphaModFix amt="14000"/>
          </a:blip>
          <a:stretch>
            <a:fillRect/>
          </a:stretch>
        </p:blipFill>
        <p:spPr>
          <a:xfrm>
            <a:off x="0" y="0"/>
            <a:ext cx="7562088" cy="1686610"/>
          </a:xfrm>
          <a:prstGeom prst="rect">
            <a:avLst/>
          </a:prstGeom>
        </p:spPr>
      </p:pic>
      <p:sp>
        <p:nvSpPr>
          <p:cNvPr id="4" name="Text 1"/>
          <p:cNvSpPr/>
          <p:nvPr/>
        </p:nvSpPr>
        <p:spPr>
          <a:xfrm>
            <a:off x="713232" y="493776"/>
            <a:ext cx="6135624" cy="201168"/>
          </a:xfrm>
          <a:prstGeom prst="rect">
            <a:avLst/>
          </a:prstGeom>
          <a:noFill/>
          <a:ln/>
        </p:spPr>
        <p:txBody>
          <a:bodyPr wrap="square" lIns="0" tIns="0" rIns="0" bIns="0" rtlCol="0" anchor="t"/>
          <a:lstStyle/>
          <a:p>
            <a:pPr indent="0" marL="0">
              <a:lnSpc>
                <a:spcPts val="1300"/>
              </a:lnSpc>
              <a:buNone/>
            </a:pPr>
            <a:r>
              <a:rPr lang="en-US" sz="1000" b="1" spc="320" kern="0" dirty="0">
                <a:solidFill>
                  <a:srgbClr val="000000"/>
                </a:solidFill>
                <a:latin typeface="Oswald" pitchFamily="34" charset="0"/>
                <a:ea typeface="Oswald" pitchFamily="34" charset="-122"/>
                <a:cs typeface="Oswald" pitchFamily="34" charset="-120"/>
              </a:rPr>
              <a:t>PARCERIAS</a:t>
            </a:r>
            <a:endParaRPr lang="en-US" sz="1000" dirty="0"/>
          </a:p>
        </p:txBody>
      </p:sp>
      <p:sp>
        <p:nvSpPr>
          <p:cNvPr id="5" name="Text 2"/>
          <p:cNvSpPr/>
          <p:nvPr/>
        </p:nvSpPr>
        <p:spPr>
          <a:xfrm>
            <a:off x="713232" y="877824"/>
            <a:ext cx="6135624" cy="497890"/>
          </a:xfrm>
          <a:prstGeom prst="rect">
            <a:avLst/>
          </a:prstGeom>
          <a:noFill/>
          <a:ln/>
        </p:spPr>
        <p:txBody>
          <a:bodyPr wrap="square" lIns="0" tIns="0" rIns="0" bIns="0" rtlCol="0" anchor="t"/>
          <a:lstStyle/>
          <a:p>
            <a:pPr indent="0" marL="0">
              <a:lnSpc>
                <a:spcPts val="3200"/>
              </a:lnSpc>
              <a:buNone/>
            </a:pPr>
            <a:r>
              <a:rPr lang="en-US" sz="3000" dirty="0">
                <a:solidFill>
                  <a:srgbClr val="000000"/>
                </a:solidFill>
                <a:latin typeface="Anton" pitchFamily="34" charset="0"/>
                <a:ea typeface="Anton" pitchFamily="34" charset="-122"/>
                <a:cs typeface="Anton" pitchFamily="34" charset="-120"/>
              </a:rPr>
              <a:t>VAMOS CONSTRUIR JUNTOS</a:t>
            </a:r>
            <a:endParaRPr lang="en-US" sz="3000" dirty="0"/>
          </a:p>
        </p:txBody>
      </p:sp>
      <p:sp>
        <p:nvSpPr>
          <p:cNvPr id="6" name="Text 3"/>
          <p:cNvSpPr/>
          <p:nvPr/>
        </p:nvSpPr>
        <p:spPr>
          <a:xfrm>
            <a:off x="713232" y="2216962"/>
            <a:ext cx="6135624" cy="702713"/>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Estamos abertos a conversar com empresas, marcas, empreendedores, coletivos e profissionais que tenham interesse em se aproximar da Loop Skate Park e construir conosco uma parceria que seja interessante para os dois lados.</a:t>
            </a:r>
            <a:endParaRPr lang="en-US" sz="1100" dirty="0"/>
          </a:p>
        </p:txBody>
      </p:sp>
      <p:sp>
        <p:nvSpPr>
          <p:cNvPr id="7" name="Text 4"/>
          <p:cNvSpPr/>
          <p:nvPr/>
        </p:nvSpPr>
        <p:spPr>
          <a:xfrm>
            <a:off x="713232" y="3088768"/>
            <a:ext cx="6135624" cy="702713"/>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Estamos em busca de marcas que queiram estar presentes na nossa pista, apoiar um evento, contribuir com produtos ou serviços, investir em nossos atletas, ajudar na estrutura do espaço, desenvolver uma ativação de marca ou criar uma ação especial com nossa comunidade.</a:t>
            </a:r>
            <a:endParaRPr lang="en-US" sz="1100" dirty="0"/>
          </a:p>
        </p:txBody>
      </p:sp>
      <p:sp>
        <p:nvSpPr>
          <p:cNvPr id="8" name="Shape 5"/>
          <p:cNvSpPr/>
          <p:nvPr/>
        </p:nvSpPr>
        <p:spPr>
          <a:xfrm rot="2700000">
            <a:off x="731520" y="4183782"/>
            <a:ext cx="173736" cy="173736"/>
          </a:xfrm>
          <a:prstGeom prst="rect">
            <a:avLst/>
          </a:prstGeom>
          <a:solidFill>
            <a:srgbClr val="FFB3D1"/>
          </a:solidFill>
          <a:ln w="25400">
            <a:solidFill>
              <a:srgbClr val="000000"/>
            </a:solidFill>
            <a:prstDash val="solid"/>
          </a:ln>
        </p:spPr>
      </p:sp>
      <p:sp>
        <p:nvSpPr>
          <p:cNvPr id="9" name="Text 6"/>
          <p:cNvSpPr/>
          <p:nvPr/>
        </p:nvSpPr>
        <p:spPr>
          <a:xfrm>
            <a:off x="1115568" y="4110630"/>
            <a:ext cx="5733288" cy="345490"/>
          </a:xfrm>
          <a:prstGeom prst="rect">
            <a:avLst/>
          </a:prstGeom>
          <a:noFill/>
          <a:ln/>
        </p:spPr>
        <p:txBody>
          <a:bodyPr wrap="square" lIns="0" tIns="0" rIns="0" bIns="0" rtlCol="0" anchor="t"/>
          <a:lstStyle/>
          <a:p>
            <a:pPr indent="0" marL="0">
              <a:lnSpc>
                <a:spcPts val="2000"/>
              </a:lnSpc>
              <a:buNone/>
            </a:pPr>
            <a:r>
              <a:rPr lang="en-US" sz="1800" dirty="0">
                <a:solidFill>
                  <a:srgbClr val="000000"/>
                </a:solidFill>
                <a:latin typeface="Anton" pitchFamily="34" charset="0"/>
                <a:ea typeface="Anton" pitchFamily="34" charset="-122"/>
                <a:cs typeface="Anton" pitchFamily="34" charset="-120"/>
              </a:rPr>
              <a:t>NOSSAS INICIATIVAS SOCIAIS</a:t>
            </a:r>
            <a:endParaRPr lang="en-US" sz="1800" dirty="0"/>
          </a:p>
        </p:txBody>
      </p:sp>
      <p:sp>
        <p:nvSpPr>
          <p:cNvPr id="10" name="Text 7"/>
          <p:cNvSpPr/>
          <p:nvPr/>
        </p:nvSpPr>
        <p:spPr>
          <a:xfrm>
            <a:off x="713232" y="4626821"/>
            <a:ext cx="6135624" cy="270814"/>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Também estamos abertos a parcerias que apoiem diretamente as nossas duas iniciativas sociais:</a:t>
            </a:r>
            <a:endParaRPr lang="en-US" sz="1100" dirty="0"/>
          </a:p>
        </p:txBody>
      </p:sp>
      <p:sp>
        <p:nvSpPr>
          <p:cNvPr id="11" name="Shape 8"/>
          <p:cNvSpPr/>
          <p:nvPr/>
        </p:nvSpPr>
        <p:spPr>
          <a:xfrm>
            <a:off x="713232" y="5104054"/>
            <a:ext cx="2948940" cy="1260038"/>
          </a:xfrm>
          <a:prstGeom prst="rect">
            <a:avLst/>
          </a:prstGeom>
          <a:solidFill>
            <a:srgbClr val="FFB3D1"/>
          </a:solidFill>
          <a:ln w="28575">
            <a:solidFill>
              <a:srgbClr val="000000"/>
            </a:solidFill>
            <a:prstDash val="solid"/>
          </a:ln>
        </p:spPr>
      </p:sp>
      <p:sp>
        <p:nvSpPr>
          <p:cNvPr id="12" name="Text 9"/>
          <p:cNvSpPr/>
          <p:nvPr/>
        </p:nvSpPr>
        <p:spPr>
          <a:xfrm>
            <a:off x="950976" y="5323510"/>
            <a:ext cx="2473452" cy="232714"/>
          </a:xfrm>
          <a:prstGeom prst="rect">
            <a:avLst/>
          </a:prstGeom>
          <a:noFill/>
          <a:ln/>
        </p:spPr>
        <p:txBody>
          <a:bodyPr wrap="square" lIns="0" tIns="0" rIns="0" bIns="0" rtlCol="0" anchor="t"/>
          <a:lstStyle/>
          <a:p>
            <a:pPr indent="0" marL="0">
              <a:lnSpc>
                <a:spcPts val="1400"/>
              </a:lnSpc>
              <a:buNone/>
            </a:pPr>
            <a:r>
              <a:rPr lang="en-US" sz="1150" b="1" dirty="0">
                <a:solidFill>
                  <a:srgbClr val="000000"/>
                </a:solidFill>
                <a:latin typeface="Oswald" pitchFamily="34" charset="0"/>
                <a:ea typeface="Oswald" pitchFamily="34" charset="-122"/>
                <a:cs typeface="Oswald" pitchFamily="34" charset="-120"/>
              </a:rPr>
              <a:t>BOLSAS SOCIAIS</a:t>
            </a:r>
            <a:endParaRPr lang="en-US" sz="1150" dirty="0"/>
          </a:p>
        </p:txBody>
      </p:sp>
      <p:sp>
        <p:nvSpPr>
          <p:cNvPr id="13" name="Text 10"/>
          <p:cNvSpPr/>
          <p:nvPr/>
        </p:nvSpPr>
        <p:spPr>
          <a:xfrm>
            <a:off x="950976" y="5592800"/>
            <a:ext cx="2473452" cy="606701"/>
          </a:xfrm>
          <a:prstGeom prst="rect">
            <a:avLst/>
          </a:prstGeom>
          <a:noFill/>
          <a:ln/>
        </p:spPr>
        <p:txBody>
          <a:bodyPr wrap="square" lIns="0" tIns="0" rIns="0" bIns="0" rtlCol="0" anchor="t"/>
          <a:lstStyle/>
          <a:p>
            <a:pPr indent="0" marL="0">
              <a:lnSpc>
                <a:spcPts val="1400"/>
              </a:lnSpc>
              <a:buNone/>
            </a:pPr>
            <a:r>
              <a:rPr lang="en-US" sz="1000" dirty="0">
                <a:solidFill>
                  <a:srgbClr val="111111"/>
                </a:solidFill>
                <a:latin typeface="Barlow" pitchFamily="34" charset="0"/>
                <a:ea typeface="Barlow" pitchFamily="34" charset="-122"/>
                <a:cs typeface="Barlow" pitchFamily="34" charset="-120"/>
              </a:rPr>
              <a:t>Criação de bolsas para crianças e adolescentes de famílias de baixa renda, para que tenham acesso regular às aulas.</a:t>
            </a:r>
            <a:endParaRPr lang="en-US" sz="1000" dirty="0"/>
          </a:p>
        </p:txBody>
      </p:sp>
      <p:sp>
        <p:nvSpPr>
          <p:cNvPr id="14" name="Shape 11"/>
          <p:cNvSpPr/>
          <p:nvPr/>
        </p:nvSpPr>
        <p:spPr>
          <a:xfrm>
            <a:off x="3899916" y="5104054"/>
            <a:ext cx="2948940" cy="1260038"/>
          </a:xfrm>
          <a:prstGeom prst="rect">
            <a:avLst/>
          </a:prstGeom>
          <a:solidFill>
            <a:srgbClr val="18D7DF"/>
          </a:solidFill>
          <a:ln w="28575">
            <a:solidFill>
              <a:srgbClr val="000000"/>
            </a:solidFill>
            <a:prstDash val="solid"/>
          </a:ln>
        </p:spPr>
      </p:sp>
      <p:sp>
        <p:nvSpPr>
          <p:cNvPr id="15" name="Text 12"/>
          <p:cNvSpPr/>
          <p:nvPr/>
        </p:nvSpPr>
        <p:spPr>
          <a:xfrm>
            <a:off x="4137660" y="5323510"/>
            <a:ext cx="2473452" cy="232714"/>
          </a:xfrm>
          <a:prstGeom prst="rect">
            <a:avLst/>
          </a:prstGeom>
          <a:noFill/>
          <a:ln/>
        </p:spPr>
        <p:txBody>
          <a:bodyPr wrap="square" lIns="0" tIns="0" rIns="0" bIns="0" rtlCol="0" anchor="t"/>
          <a:lstStyle/>
          <a:p>
            <a:pPr indent="0" marL="0">
              <a:lnSpc>
                <a:spcPts val="1400"/>
              </a:lnSpc>
              <a:buNone/>
            </a:pPr>
            <a:r>
              <a:rPr lang="en-US" sz="1150" b="1" dirty="0">
                <a:solidFill>
                  <a:srgbClr val="000000"/>
                </a:solidFill>
                <a:latin typeface="Oswald" pitchFamily="34" charset="0"/>
                <a:ea typeface="Oswald" pitchFamily="34" charset="-122"/>
                <a:cs typeface="Oswald" pitchFamily="34" charset="-120"/>
              </a:rPr>
              <a:t>MENINAS NO SKATE</a:t>
            </a:r>
            <a:endParaRPr lang="en-US" sz="1150" dirty="0"/>
          </a:p>
        </p:txBody>
      </p:sp>
      <p:sp>
        <p:nvSpPr>
          <p:cNvPr id="16" name="Text 13"/>
          <p:cNvSpPr/>
          <p:nvPr/>
        </p:nvSpPr>
        <p:spPr>
          <a:xfrm>
            <a:off x="4137660" y="5592800"/>
            <a:ext cx="2473452" cy="606701"/>
          </a:xfrm>
          <a:prstGeom prst="rect">
            <a:avLst/>
          </a:prstGeom>
          <a:noFill/>
          <a:ln/>
        </p:spPr>
        <p:txBody>
          <a:bodyPr wrap="square" lIns="0" tIns="0" rIns="0" bIns="0" rtlCol="0" anchor="t"/>
          <a:lstStyle/>
          <a:p>
            <a:pPr indent="0" marL="0">
              <a:lnSpc>
                <a:spcPts val="1400"/>
              </a:lnSpc>
              <a:buNone/>
            </a:pPr>
            <a:r>
              <a:rPr lang="en-US" sz="1000" dirty="0">
                <a:solidFill>
                  <a:srgbClr val="111111"/>
                </a:solidFill>
                <a:latin typeface="Barlow" pitchFamily="34" charset="0"/>
                <a:ea typeface="Barlow" pitchFamily="34" charset="-122"/>
                <a:cs typeface="Barlow" pitchFamily="34" charset="-120"/>
              </a:rPr>
              <a:t>Incentivo à participação de meninas no skate, abrindo espaço e companhia para quem quer aprender e seguir andando.</a:t>
            </a:r>
            <a:endParaRPr lang="en-US" sz="1000" dirty="0"/>
          </a:p>
        </p:txBody>
      </p:sp>
      <p:sp>
        <p:nvSpPr>
          <p:cNvPr id="17" name="Text 14"/>
          <p:cNvSpPr/>
          <p:nvPr/>
        </p:nvSpPr>
        <p:spPr>
          <a:xfrm>
            <a:off x="713232" y="6662703"/>
            <a:ext cx="6135624" cy="702713"/>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Nosso desejo com esses projetos é ampliar o acesso ao skate para pessoas que talvez não tivessem essa oportunidade de outra maneira. A ampliação desse trabalho, inclusive por meio de parcerias com escolas e projetos sociais, faz parte da nossa visão de futuro.</a:t>
            </a:r>
            <a:endParaRPr lang="en-US" sz="1100" dirty="0"/>
          </a:p>
        </p:txBody>
      </p:sp>
      <p:sp>
        <p:nvSpPr>
          <p:cNvPr id="18" name="Shape 15"/>
          <p:cNvSpPr/>
          <p:nvPr/>
        </p:nvSpPr>
        <p:spPr>
          <a:xfrm>
            <a:off x="681228" y="7651811"/>
            <a:ext cx="6199632" cy="1847088"/>
          </a:xfrm>
          <a:prstGeom prst="rect">
            <a:avLst/>
          </a:prstGeom>
          <a:solidFill>
            <a:srgbClr val="000000"/>
          </a:solidFill>
          <a:ln/>
        </p:spPr>
      </p:sp>
      <p:pic>
        <p:nvPicPr>
          <p:cNvPr id="19" name="Image 1" descr="/home/user/alessandra-loop.github.io/script/carta-pptx/.build/foto-obstaculos.jpg">    </p:cNvPr>
          <p:cNvPicPr>
            <a:picLocks noChangeAspect="1"/>
          </p:cNvPicPr>
          <p:nvPr/>
        </p:nvPicPr>
        <p:blipFill>
          <a:blip r:embed="rId2"/>
          <a:stretch>
            <a:fillRect/>
          </a:stretch>
        </p:blipFill>
        <p:spPr>
          <a:xfrm>
            <a:off x="713232" y="7683815"/>
            <a:ext cx="6135624" cy="1783080"/>
          </a:xfrm>
          <a:prstGeom prst="rect">
            <a:avLst/>
          </a:prstGeom>
        </p:spPr>
      </p:pic>
      <p:sp>
        <p:nvSpPr>
          <p:cNvPr id="20" name="Text 16"/>
          <p:cNvSpPr/>
          <p:nvPr/>
        </p:nvSpPr>
        <p:spPr>
          <a:xfrm>
            <a:off x="713232" y="9576623"/>
            <a:ext cx="6135624" cy="173736"/>
          </a:xfrm>
          <a:prstGeom prst="rect">
            <a:avLst/>
          </a:prstGeom>
          <a:noFill/>
          <a:ln/>
        </p:spPr>
        <p:txBody>
          <a:bodyPr wrap="square" lIns="0" tIns="0" rIns="0" bIns="0" rtlCol="0" anchor="t"/>
          <a:lstStyle/>
          <a:p>
            <a:pPr indent="0" marL="0">
              <a:lnSpc>
                <a:spcPts val="1250"/>
              </a:lnSpc>
              <a:buNone/>
            </a:pPr>
            <a:r>
              <a:rPr lang="en-US" sz="900" b="1" spc="160" kern="0" dirty="0">
                <a:solidFill>
                  <a:srgbClr val="444444"/>
                </a:solidFill>
                <a:latin typeface="Oswald" pitchFamily="34" charset="0"/>
                <a:ea typeface="Oswald" pitchFamily="34" charset="-122"/>
                <a:cs typeface="Oswald" pitchFamily="34" charset="-120"/>
              </a:rPr>
              <a:t>OBSTÁCULOS E ÁREA DE PRÁTICA</a:t>
            </a:r>
            <a:endParaRPr lang="en-US" sz="900" dirty="0"/>
          </a:p>
        </p:txBody>
      </p:sp>
      <p:sp>
        <p:nvSpPr>
          <p:cNvPr id="21" name="Shape 17"/>
          <p:cNvSpPr/>
          <p:nvPr/>
        </p:nvSpPr>
        <p:spPr>
          <a:xfrm>
            <a:off x="713232" y="10122408"/>
            <a:ext cx="6135624" cy="18288"/>
          </a:xfrm>
          <a:prstGeom prst="rect">
            <a:avLst/>
          </a:prstGeom>
          <a:solidFill>
            <a:srgbClr val="000000"/>
          </a:solidFill>
          <a:ln/>
        </p:spPr>
      </p:sp>
      <p:sp>
        <p:nvSpPr>
          <p:cNvPr id="22" name="Text 18"/>
          <p:cNvSpPr/>
          <p:nvPr/>
        </p:nvSpPr>
        <p:spPr>
          <a:xfrm>
            <a:off x="713232" y="10250424"/>
            <a:ext cx="5586984" cy="182880"/>
          </a:xfrm>
          <a:prstGeom prst="rect">
            <a:avLst/>
          </a:prstGeom>
          <a:noFill/>
          <a:ln/>
        </p:spPr>
        <p:txBody>
          <a:bodyPr wrap="square" lIns="0" tIns="0" rIns="0" bIns="0" rtlCol="0" anchor="t"/>
          <a:lstStyle/>
          <a:p>
            <a:pPr indent="0" marL="0">
              <a:lnSpc>
                <a:spcPts val="1100"/>
              </a:lnSpc>
              <a:buNone/>
            </a:pPr>
            <a:r>
              <a:rPr lang="en-US" sz="800" spc="160" kern="0" dirty="0">
                <a:solidFill>
                  <a:srgbClr val="555555"/>
                </a:solidFill>
                <a:latin typeface="Oswald" pitchFamily="34" charset="0"/>
                <a:ea typeface="Oswald" pitchFamily="34" charset="-122"/>
                <a:cs typeface="Oswald" pitchFamily="34" charset="-120"/>
              </a:rPr>
              <a:t>Loop Skate Park · Carta de apresentação · 2026</a:t>
            </a:r>
            <a:endParaRPr lang="en-US" sz="800" dirty="0"/>
          </a:p>
        </p:txBody>
      </p:sp>
      <p:sp>
        <p:nvSpPr>
          <p:cNvPr id="23" name="Text 19"/>
          <p:cNvSpPr/>
          <p:nvPr/>
        </p:nvSpPr>
        <p:spPr>
          <a:xfrm>
            <a:off x="6300216" y="10232136"/>
            <a:ext cx="548640" cy="219456"/>
          </a:xfrm>
          <a:prstGeom prst="rect">
            <a:avLst/>
          </a:prstGeom>
          <a:noFill/>
          <a:ln/>
        </p:spPr>
        <p:txBody>
          <a:bodyPr wrap="square" lIns="0" tIns="0" rIns="0" bIns="0" rtlCol="0" anchor="t"/>
          <a:lstStyle/>
          <a:p>
            <a:pPr algn="r" indent="0" marL="0">
              <a:lnSpc>
                <a:spcPts val="1200"/>
              </a:lnSpc>
              <a:buNone/>
            </a:pPr>
            <a:r>
              <a:rPr lang="en-US" sz="1000" dirty="0">
                <a:solidFill>
                  <a:srgbClr val="000000"/>
                </a:solidFill>
                <a:latin typeface="Anton" pitchFamily="34" charset="0"/>
                <a:ea typeface="Anton" pitchFamily="34" charset="-122"/>
                <a:cs typeface="Anton"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62088" cy="1686610"/>
          </a:xfrm>
          <a:prstGeom prst="rect">
            <a:avLst/>
          </a:prstGeom>
          <a:solidFill>
            <a:srgbClr val="935BBC"/>
          </a:solidFill>
          <a:ln/>
        </p:spPr>
      </p:sp>
      <p:pic>
        <p:nvPicPr>
          <p:cNvPr id="3" name="Image 0" descr="/home/user/alessandra-loop.github.io/script/carta-pptx/.build/tex-band-4.png">    </p:cNvPr>
          <p:cNvPicPr>
            <a:picLocks noChangeAspect="1"/>
          </p:cNvPicPr>
          <p:nvPr/>
        </p:nvPicPr>
        <p:blipFill>
          <a:blip r:embed="rId1">
            <a:alphaModFix amt="14000"/>
          </a:blip>
          <a:stretch>
            <a:fillRect/>
          </a:stretch>
        </p:blipFill>
        <p:spPr>
          <a:xfrm>
            <a:off x="0" y="0"/>
            <a:ext cx="7562088" cy="1686610"/>
          </a:xfrm>
          <a:prstGeom prst="rect">
            <a:avLst/>
          </a:prstGeom>
        </p:spPr>
      </p:pic>
      <p:sp>
        <p:nvSpPr>
          <p:cNvPr id="4" name="Text 1"/>
          <p:cNvSpPr/>
          <p:nvPr/>
        </p:nvSpPr>
        <p:spPr>
          <a:xfrm>
            <a:off x="713232" y="493776"/>
            <a:ext cx="6135624" cy="201168"/>
          </a:xfrm>
          <a:prstGeom prst="rect">
            <a:avLst/>
          </a:prstGeom>
          <a:noFill/>
          <a:ln/>
        </p:spPr>
        <p:txBody>
          <a:bodyPr wrap="square" lIns="0" tIns="0" rIns="0" bIns="0" rtlCol="0" anchor="t"/>
          <a:lstStyle/>
          <a:p>
            <a:pPr indent="0" marL="0">
              <a:lnSpc>
                <a:spcPts val="1300"/>
              </a:lnSpc>
              <a:buNone/>
            </a:pPr>
            <a:r>
              <a:rPr lang="en-US" sz="1000" b="1" spc="320" kern="0" dirty="0">
                <a:solidFill>
                  <a:srgbClr val="FFFFFF"/>
                </a:solidFill>
                <a:latin typeface="Oswald" pitchFamily="34" charset="0"/>
                <a:ea typeface="Oswald" pitchFamily="34" charset="-122"/>
                <a:cs typeface="Oswald" pitchFamily="34" charset="-120"/>
              </a:rPr>
              <a:t>CAMINHOS POSSÍVEIS</a:t>
            </a:r>
            <a:endParaRPr lang="en-US" sz="1000" dirty="0"/>
          </a:p>
        </p:txBody>
      </p:sp>
      <p:sp>
        <p:nvSpPr>
          <p:cNvPr id="5" name="Text 2"/>
          <p:cNvSpPr/>
          <p:nvPr/>
        </p:nvSpPr>
        <p:spPr>
          <a:xfrm>
            <a:off x="713232" y="877824"/>
            <a:ext cx="6135624" cy="497890"/>
          </a:xfrm>
          <a:prstGeom prst="rect">
            <a:avLst/>
          </a:prstGeom>
          <a:noFill/>
          <a:ln/>
        </p:spPr>
        <p:txBody>
          <a:bodyPr wrap="square" lIns="0" tIns="0" rIns="0" bIns="0" rtlCol="0" anchor="t"/>
          <a:lstStyle/>
          <a:p>
            <a:pPr indent="0" marL="0">
              <a:lnSpc>
                <a:spcPts val="3200"/>
              </a:lnSpc>
              <a:buNone/>
            </a:pPr>
            <a:r>
              <a:rPr lang="en-US" sz="3000" dirty="0">
                <a:solidFill>
                  <a:srgbClr val="FFFFFF"/>
                </a:solidFill>
                <a:latin typeface="Anton" pitchFamily="34" charset="0"/>
                <a:ea typeface="Anton" pitchFamily="34" charset="-122"/>
                <a:cs typeface="Anton" pitchFamily="34" charset="-120"/>
              </a:rPr>
              <a:t>AS POSSIBILIDADES SÃO MUITAS</a:t>
            </a:r>
            <a:endParaRPr lang="en-US" sz="3000" dirty="0"/>
          </a:p>
        </p:txBody>
      </p:sp>
      <p:sp>
        <p:nvSpPr>
          <p:cNvPr id="6" name="Shape 3"/>
          <p:cNvSpPr/>
          <p:nvPr/>
        </p:nvSpPr>
        <p:spPr>
          <a:xfrm>
            <a:off x="713232" y="2107234"/>
            <a:ext cx="2967228" cy="409194"/>
          </a:xfrm>
          <a:prstGeom prst="rect">
            <a:avLst/>
          </a:prstGeom>
          <a:solidFill>
            <a:srgbClr val="FFFFFF"/>
          </a:solidFill>
          <a:ln w="25400">
            <a:solidFill>
              <a:srgbClr val="000000"/>
            </a:solidFill>
            <a:prstDash val="solid"/>
          </a:ln>
        </p:spPr>
      </p:sp>
      <p:sp>
        <p:nvSpPr>
          <p:cNvPr id="7" name="Shape 4"/>
          <p:cNvSpPr/>
          <p:nvPr/>
        </p:nvSpPr>
        <p:spPr>
          <a:xfrm>
            <a:off x="932688" y="2302687"/>
            <a:ext cx="68580" cy="91440"/>
          </a:xfrm>
          <a:prstGeom prst="line">
            <a:avLst/>
          </a:prstGeom>
          <a:noFill/>
          <a:ln w="38100">
            <a:solidFill>
              <a:srgbClr val="18D7DF"/>
            </a:solidFill>
            <a:prstDash val="solid"/>
          </a:ln>
        </p:spPr>
      </p:sp>
      <p:sp>
        <p:nvSpPr>
          <p:cNvPr id="8" name="Shape 5"/>
          <p:cNvSpPr/>
          <p:nvPr/>
        </p:nvSpPr>
        <p:spPr>
          <a:xfrm flipV="1">
            <a:off x="1001268" y="2229535"/>
            <a:ext cx="141732" cy="164592"/>
          </a:xfrm>
          <a:prstGeom prst="line">
            <a:avLst/>
          </a:prstGeom>
          <a:noFill/>
          <a:ln w="38100">
            <a:solidFill>
              <a:srgbClr val="18D7DF"/>
            </a:solidFill>
            <a:prstDash val="solid"/>
          </a:ln>
        </p:spPr>
      </p:sp>
      <p:sp>
        <p:nvSpPr>
          <p:cNvPr id="9" name="Text 6"/>
          <p:cNvSpPr/>
          <p:nvPr/>
        </p:nvSpPr>
        <p:spPr>
          <a:xfrm>
            <a:off x="1225296" y="2107234"/>
            <a:ext cx="2327148" cy="40919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Uma marca pode estar presente na pista.</a:t>
            </a:r>
            <a:endParaRPr lang="en-US" sz="1000" dirty="0"/>
          </a:p>
        </p:txBody>
      </p:sp>
      <p:sp>
        <p:nvSpPr>
          <p:cNvPr id="10" name="Shape 7"/>
          <p:cNvSpPr/>
          <p:nvPr/>
        </p:nvSpPr>
        <p:spPr>
          <a:xfrm>
            <a:off x="3881628" y="2107234"/>
            <a:ext cx="2967228" cy="409194"/>
          </a:xfrm>
          <a:prstGeom prst="rect">
            <a:avLst/>
          </a:prstGeom>
          <a:solidFill>
            <a:srgbClr val="FFFFFF"/>
          </a:solidFill>
          <a:ln w="25400">
            <a:solidFill>
              <a:srgbClr val="000000"/>
            </a:solidFill>
            <a:prstDash val="solid"/>
          </a:ln>
        </p:spPr>
      </p:sp>
      <p:sp>
        <p:nvSpPr>
          <p:cNvPr id="11" name="Shape 8"/>
          <p:cNvSpPr/>
          <p:nvPr/>
        </p:nvSpPr>
        <p:spPr>
          <a:xfrm>
            <a:off x="4101084" y="2302687"/>
            <a:ext cx="68580" cy="91440"/>
          </a:xfrm>
          <a:prstGeom prst="line">
            <a:avLst/>
          </a:prstGeom>
          <a:noFill/>
          <a:ln w="38100">
            <a:solidFill>
              <a:srgbClr val="000000"/>
            </a:solidFill>
            <a:prstDash val="solid"/>
          </a:ln>
        </p:spPr>
      </p:sp>
      <p:sp>
        <p:nvSpPr>
          <p:cNvPr id="12" name="Shape 9"/>
          <p:cNvSpPr/>
          <p:nvPr/>
        </p:nvSpPr>
        <p:spPr>
          <a:xfrm flipV="1">
            <a:off x="4169664" y="2229535"/>
            <a:ext cx="141732" cy="164592"/>
          </a:xfrm>
          <a:prstGeom prst="line">
            <a:avLst/>
          </a:prstGeom>
          <a:noFill/>
          <a:ln w="38100">
            <a:solidFill>
              <a:srgbClr val="000000"/>
            </a:solidFill>
            <a:prstDash val="solid"/>
          </a:ln>
        </p:spPr>
      </p:sp>
      <p:sp>
        <p:nvSpPr>
          <p:cNvPr id="13" name="Text 10"/>
          <p:cNvSpPr/>
          <p:nvPr/>
        </p:nvSpPr>
        <p:spPr>
          <a:xfrm>
            <a:off x="4393692" y="2107234"/>
            <a:ext cx="2327148" cy="40919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Pode apoiar um campeonato ou um rolê.</a:t>
            </a:r>
            <a:endParaRPr lang="en-US" sz="1000" dirty="0"/>
          </a:p>
        </p:txBody>
      </p:sp>
      <p:sp>
        <p:nvSpPr>
          <p:cNvPr id="14" name="Shape 11"/>
          <p:cNvSpPr/>
          <p:nvPr/>
        </p:nvSpPr>
        <p:spPr>
          <a:xfrm>
            <a:off x="713232" y="2617012"/>
            <a:ext cx="2967228" cy="580644"/>
          </a:xfrm>
          <a:prstGeom prst="rect">
            <a:avLst/>
          </a:prstGeom>
          <a:solidFill>
            <a:srgbClr val="FFFFFF"/>
          </a:solidFill>
          <a:ln w="25400">
            <a:solidFill>
              <a:srgbClr val="000000"/>
            </a:solidFill>
            <a:prstDash val="solid"/>
          </a:ln>
        </p:spPr>
      </p:sp>
      <p:sp>
        <p:nvSpPr>
          <p:cNvPr id="15" name="Shape 12"/>
          <p:cNvSpPr/>
          <p:nvPr/>
        </p:nvSpPr>
        <p:spPr>
          <a:xfrm>
            <a:off x="932688" y="2898190"/>
            <a:ext cx="68580" cy="91440"/>
          </a:xfrm>
          <a:prstGeom prst="line">
            <a:avLst/>
          </a:prstGeom>
          <a:noFill/>
          <a:ln w="38100">
            <a:solidFill>
              <a:srgbClr val="F6C707"/>
            </a:solidFill>
            <a:prstDash val="solid"/>
          </a:ln>
        </p:spPr>
      </p:sp>
      <p:sp>
        <p:nvSpPr>
          <p:cNvPr id="16" name="Shape 13"/>
          <p:cNvSpPr/>
          <p:nvPr/>
        </p:nvSpPr>
        <p:spPr>
          <a:xfrm flipV="1">
            <a:off x="1001268" y="2825038"/>
            <a:ext cx="141732" cy="164592"/>
          </a:xfrm>
          <a:prstGeom prst="line">
            <a:avLst/>
          </a:prstGeom>
          <a:noFill/>
          <a:ln w="38100">
            <a:solidFill>
              <a:srgbClr val="F6C707"/>
            </a:solidFill>
            <a:prstDash val="solid"/>
          </a:ln>
        </p:spPr>
      </p:sp>
      <p:sp>
        <p:nvSpPr>
          <p:cNvPr id="17" name="Text 14"/>
          <p:cNvSpPr/>
          <p:nvPr/>
        </p:nvSpPr>
        <p:spPr>
          <a:xfrm>
            <a:off x="1225296" y="2617012"/>
            <a:ext cx="2327148" cy="58064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Pode fornecer equipamentos para nossos atletas.</a:t>
            </a:r>
            <a:endParaRPr lang="en-US" sz="1000" dirty="0"/>
          </a:p>
        </p:txBody>
      </p:sp>
      <p:sp>
        <p:nvSpPr>
          <p:cNvPr id="18" name="Shape 15"/>
          <p:cNvSpPr/>
          <p:nvPr/>
        </p:nvSpPr>
        <p:spPr>
          <a:xfrm>
            <a:off x="3881628" y="2617012"/>
            <a:ext cx="2967228" cy="580644"/>
          </a:xfrm>
          <a:prstGeom prst="rect">
            <a:avLst/>
          </a:prstGeom>
          <a:solidFill>
            <a:srgbClr val="FFFFFF"/>
          </a:solidFill>
          <a:ln w="25400">
            <a:solidFill>
              <a:srgbClr val="000000"/>
            </a:solidFill>
            <a:prstDash val="solid"/>
          </a:ln>
        </p:spPr>
      </p:sp>
      <p:sp>
        <p:nvSpPr>
          <p:cNvPr id="19" name="Shape 16"/>
          <p:cNvSpPr/>
          <p:nvPr/>
        </p:nvSpPr>
        <p:spPr>
          <a:xfrm>
            <a:off x="4101084" y="2898190"/>
            <a:ext cx="68580" cy="91440"/>
          </a:xfrm>
          <a:prstGeom prst="line">
            <a:avLst/>
          </a:prstGeom>
          <a:noFill/>
          <a:ln w="38100">
            <a:solidFill>
              <a:srgbClr val="935BBC"/>
            </a:solidFill>
            <a:prstDash val="solid"/>
          </a:ln>
        </p:spPr>
      </p:sp>
      <p:sp>
        <p:nvSpPr>
          <p:cNvPr id="20" name="Shape 17"/>
          <p:cNvSpPr/>
          <p:nvPr/>
        </p:nvSpPr>
        <p:spPr>
          <a:xfrm flipV="1">
            <a:off x="4169664" y="2825038"/>
            <a:ext cx="141732" cy="164592"/>
          </a:xfrm>
          <a:prstGeom prst="line">
            <a:avLst/>
          </a:prstGeom>
          <a:noFill/>
          <a:ln w="38100">
            <a:solidFill>
              <a:srgbClr val="935BBC"/>
            </a:solidFill>
            <a:prstDash val="solid"/>
          </a:ln>
        </p:spPr>
      </p:sp>
      <p:sp>
        <p:nvSpPr>
          <p:cNvPr id="21" name="Text 18"/>
          <p:cNvSpPr/>
          <p:nvPr/>
        </p:nvSpPr>
        <p:spPr>
          <a:xfrm>
            <a:off x="4393692" y="2617012"/>
            <a:ext cx="2327148" cy="58064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Pode criar uma experiência para crianças e famílias.</a:t>
            </a:r>
            <a:endParaRPr lang="en-US" sz="1000" dirty="0"/>
          </a:p>
        </p:txBody>
      </p:sp>
      <p:sp>
        <p:nvSpPr>
          <p:cNvPr id="22" name="Shape 19"/>
          <p:cNvSpPr/>
          <p:nvPr/>
        </p:nvSpPr>
        <p:spPr>
          <a:xfrm>
            <a:off x="713232" y="3298240"/>
            <a:ext cx="2967228" cy="580644"/>
          </a:xfrm>
          <a:prstGeom prst="rect">
            <a:avLst/>
          </a:prstGeom>
          <a:solidFill>
            <a:srgbClr val="FFFFFF"/>
          </a:solidFill>
          <a:ln w="25400">
            <a:solidFill>
              <a:srgbClr val="000000"/>
            </a:solidFill>
            <a:prstDash val="solid"/>
          </a:ln>
        </p:spPr>
      </p:sp>
      <p:sp>
        <p:nvSpPr>
          <p:cNvPr id="23" name="Shape 20"/>
          <p:cNvSpPr/>
          <p:nvPr/>
        </p:nvSpPr>
        <p:spPr>
          <a:xfrm>
            <a:off x="932688" y="3579418"/>
            <a:ext cx="68580" cy="91440"/>
          </a:xfrm>
          <a:prstGeom prst="line">
            <a:avLst/>
          </a:prstGeom>
          <a:noFill/>
          <a:ln w="38100">
            <a:solidFill>
              <a:srgbClr val="18D7DF"/>
            </a:solidFill>
            <a:prstDash val="solid"/>
          </a:ln>
        </p:spPr>
      </p:sp>
      <p:sp>
        <p:nvSpPr>
          <p:cNvPr id="24" name="Shape 21"/>
          <p:cNvSpPr/>
          <p:nvPr/>
        </p:nvSpPr>
        <p:spPr>
          <a:xfrm flipV="1">
            <a:off x="1001268" y="3506266"/>
            <a:ext cx="141732" cy="164592"/>
          </a:xfrm>
          <a:prstGeom prst="line">
            <a:avLst/>
          </a:prstGeom>
          <a:noFill/>
          <a:ln w="38100">
            <a:solidFill>
              <a:srgbClr val="18D7DF"/>
            </a:solidFill>
            <a:prstDash val="solid"/>
          </a:ln>
        </p:spPr>
      </p:sp>
      <p:sp>
        <p:nvSpPr>
          <p:cNvPr id="25" name="Text 22"/>
          <p:cNvSpPr/>
          <p:nvPr/>
        </p:nvSpPr>
        <p:spPr>
          <a:xfrm>
            <a:off x="1225296" y="3298240"/>
            <a:ext cx="2327148" cy="58064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Pode apoiar a produção de conteúdos.</a:t>
            </a:r>
            <a:endParaRPr lang="en-US" sz="1000" dirty="0"/>
          </a:p>
        </p:txBody>
      </p:sp>
      <p:sp>
        <p:nvSpPr>
          <p:cNvPr id="26" name="Shape 23"/>
          <p:cNvSpPr/>
          <p:nvPr/>
        </p:nvSpPr>
        <p:spPr>
          <a:xfrm>
            <a:off x="3881628" y="3298240"/>
            <a:ext cx="2967228" cy="580644"/>
          </a:xfrm>
          <a:prstGeom prst="rect">
            <a:avLst/>
          </a:prstGeom>
          <a:solidFill>
            <a:srgbClr val="FFFFFF"/>
          </a:solidFill>
          <a:ln w="25400">
            <a:solidFill>
              <a:srgbClr val="000000"/>
            </a:solidFill>
            <a:prstDash val="solid"/>
          </a:ln>
        </p:spPr>
      </p:sp>
      <p:sp>
        <p:nvSpPr>
          <p:cNvPr id="27" name="Shape 24"/>
          <p:cNvSpPr/>
          <p:nvPr/>
        </p:nvSpPr>
        <p:spPr>
          <a:xfrm>
            <a:off x="4101084" y="3579418"/>
            <a:ext cx="68580" cy="91440"/>
          </a:xfrm>
          <a:prstGeom prst="line">
            <a:avLst/>
          </a:prstGeom>
          <a:noFill/>
          <a:ln w="38100">
            <a:solidFill>
              <a:srgbClr val="000000"/>
            </a:solidFill>
            <a:prstDash val="solid"/>
          </a:ln>
        </p:spPr>
      </p:sp>
      <p:sp>
        <p:nvSpPr>
          <p:cNvPr id="28" name="Shape 25"/>
          <p:cNvSpPr/>
          <p:nvPr/>
        </p:nvSpPr>
        <p:spPr>
          <a:xfrm flipV="1">
            <a:off x="4169664" y="3506266"/>
            <a:ext cx="141732" cy="164592"/>
          </a:xfrm>
          <a:prstGeom prst="line">
            <a:avLst/>
          </a:prstGeom>
          <a:noFill/>
          <a:ln w="38100">
            <a:solidFill>
              <a:srgbClr val="000000"/>
            </a:solidFill>
            <a:prstDash val="solid"/>
          </a:ln>
        </p:spPr>
      </p:sp>
      <p:sp>
        <p:nvSpPr>
          <p:cNvPr id="29" name="Text 26"/>
          <p:cNvSpPr/>
          <p:nvPr/>
        </p:nvSpPr>
        <p:spPr>
          <a:xfrm>
            <a:off x="4393692" y="3298240"/>
            <a:ext cx="2327148" cy="58064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Pode contribuir com materiais, produtos ou serviços.</a:t>
            </a:r>
            <a:endParaRPr lang="en-US" sz="1000" dirty="0"/>
          </a:p>
        </p:txBody>
      </p:sp>
      <p:sp>
        <p:nvSpPr>
          <p:cNvPr id="30" name="Shape 27"/>
          <p:cNvSpPr/>
          <p:nvPr/>
        </p:nvSpPr>
        <p:spPr>
          <a:xfrm>
            <a:off x="713232" y="3979468"/>
            <a:ext cx="2967228" cy="752094"/>
          </a:xfrm>
          <a:prstGeom prst="rect">
            <a:avLst/>
          </a:prstGeom>
          <a:solidFill>
            <a:srgbClr val="FFFFFF"/>
          </a:solidFill>
          <a:ln w="25400">
            <a:solidFill>
              <a:srgbClr val="000000"/>
            </a:solidFill>
            <a:prstDash val="solid"/>
          </a:ln>
        </p:spPr>
      </p:sp>
      <p:sp>
        <p:nvSpPr>
          <p:cNvPr id="31" name="Shape 28"/>
          <p:cNvSpPr/>
          <p:nvPr/>
        </p:nvSpPr>
        <p:spPr>
          <a:xfrm>
            <a:off x="932688" y="4346371"/>
            <a:ext cx="68580" cy="91440"/>
          </a:xfrm>
          <a:prstGeom prst="line">
            <a:avLst/>
          </a:prstGeom>
          <a:noFill/>
          <a:ln w="38100">
            <a:solidFill>
              <a:srgbClr val="F6C707"/>
            </a:solidFill>
            <a:prstDash val="solid"/>
          </a:ln>
        </p:spPr>
      </p:sp>
      <p:sp>
        <p:nvSpPr>
          <p:cNvPr id="32" name="Shape 29"/>
          <p:cNvSpPr/>
          <p:nvPr/>
        </p:nvSpPr>
        <p:spPr>
          <a:xfrm flipV="1">
            <a:off x="1001268" y="4273219"/>
            <a:ext cx="141732" cy="164592"/>
          </a:xfrm>
          <a:prstGeom prst="line">
            <a:avLst/>
          </a:prstGeom>
          <a:noFill/>
          <a:ln w="38100">
            <a:solidFill>
              <a:srgbClr val="F6C707"/>
            </a:solidFill>
            <a:prstDash val="solid"/>
          </a:ln>
        </p:spPr>
      </p:sp>
      <p:sp>
        <p:nvSpPr>
          <p:cNvPr id="33" name="Text 30"/>
          <p:cNvSpPr/>
          <p:nvPr/>
        </p:nvSpPr>
        <p:spPr>
          <a:xfrm>
            <a:off x="1225296" y="3979468"/>
            <a:ext cx="2327148" cy="75209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Pode patrocinar bolsas sociais.</a:t>
            </a:r>
            <a:endParaRPr lang="en-US" sz="1000" dirty="0"/>
          </a:p>
        </p:txBody>
      </p:sp>
      <p:sp>
        <p:nvSpPr>
          <p:cNvPr id="34" name="Shape 31"/>
          <p:cNvSpPr/>
          <p:nvPr/>
        </p:nvSpPr>
        <p:spPr>
          <a:xfrm>
            <a:off x="3881628" y="3979468"/>
            <a:ext cx="2967228" cy="752094"/>
          </a:xfrm>
          <a:prstGeom prst="rect">
            <a:avLst/>
          </a:prstGeom>
          <a:solidFill>
            <a:srgbClr val="FFFFFF"/>
          </a:solidFill>
          <a:ln w="25400">
            <a:solidFill>
              <a:srgbClr val="000000"/>
            </a:solidFill>
            <a:prstDash val="solid"/>
          </a:ln>
        </p:spPr>
      </p:sp>
      <p:sp>
        <p:nvSpPr>
          <p:cNvPr id="35" name="Shape 32"/>
          <p:cNvSpPr/>
          <p:nvPr/>
        </p:nvSpPr>
        <p:spPr>
          <a:xfrm>
            <a:off x="4101084" y="4346371"/>
            <a:ext cx="68580" cy="91440"/>
          </a:xfrm>
          <a:prstGeom prst="line">
            <a:avLst/>
          </a:prstGeom>
          <a:noFill/>
          <a:ln w="38100">
            <a:solidFill>
              <a:srgbClr val="935BBC"/>
            </a:solidFill>
            <a:prstDash val="solid"/>
          </a:ln>
        </p:spPr>
      </p:sp>
      <p:sp>
        <p:nvSpPr>
          <p:cNvPr id="36" name="Shape 33"/>
          <p:cNvSpPr/>
          <p:nvPr/>
        </p:nvSpPr>
        <p:spPr>
          <a:xfrm flipV="1">
            <a:off x="4169664" y="4273219"/>
            <a:ext cx="141732" cy="164592"/>
          </a:xfrm>
          <a:prstGeom prst="line">
            <a:avLst/>
          </a:prstGeom>
          <a:noFill/>
          <a:ln w="38100">
            <a:solidFill>
              <a:srgbClr val="935BBC"/>
            </a:solidFill>
            <a:prstDash val="solid"/>
          </a:ln>
        </p:spPr>
      </p:sp>
      <p:sp>
        <p:nvSpPr>
          <p:cNvPr id="37" name="Text 34"/>
          <p:cNvSpPr/>
          <p:nvPr/>
        </p:nvSpPr>
        <p:spPr>
          <a:xfrm>
            <a:off x="4393692" y="3979468"/>
            <a:ext cx="2327148" cy="752094"/>
          </a:xfrm>
          <a:prstGeom prst="rect">
            <a:avLst/>
          </a:prstGeom>
          <a:noFill/>
          <a:ln/>
        </p:spPr>
        <p:txBody>
          <a:bodyPr wrap="square" lIns="0" tIns="0" rIns="0" bIns="0" rtlCol="0" anchor="ctr"/>
          <a:lstStyle/>
          <a:p>
            <a:pPr indent="0" marL="0">
              <a:lnSpc>
                <a:spcPts val="1350"/>
              </a:lnSpc>
              <a:buNone/>
            </a:pPr>
            <a:r>
              <a:rPr lang="en-US" sz="1000" dirty="0">
                <a:solidFill>
                  <a:srgbClr val="111111"/>
                </a:solidFill>
                <a:latin typeface="Barlow" pitchFamily="34" charset="0"/>
                <a:ea typeface="Barlow" pitchFamily="34" charset="-122"/>
                <a:cs typeface="Barlow" pitchFamily="34" charset="-120"/>
              </a:rPr>
              <a:t>Ou podemos simplesmente sentar juntos e pensar em uma ideia que ainda não existe.</a:t>
            </a:r>
            <a:endParaRPr lang="en-US" sz="1000" dirty="0"/>
          </a:p>
        </p:txBody>
      </p:sp>
      <p:sp>
        <p:nvSpPr>
          <p:cNvPr id="38" name="Shape 35"/>
          <p:cNvSpPr/>
          <p:nvPr/>
        </p:nvSpPr>
        <p:spPr>
          <a:xfrm>
            <a:off x="713232" y="5075191"/>
            <a:ext cx="6135624" cy="983587"/>
          </a:xfrm>
          <a:prstGeom prst="roundRect">
            <a:avLst>
              <a:gd name="adj" fmla="val 14875"/>
            </a:avLst>
          </a:prstGeom>
          <a:solidFill>
            <a:srgbClr val="000000"/>
          </a:solidFill>
          <a:ln/>
        </p:spPr>
      </p:sp>
      <p:sp>
        <p:nvSpPr>
          <p:cNvPr id="39" name="Text 36"/>
          <p:cNvSpPr/>
          <p:nvPr/>
        </p:nvSpPr>
        <p:spPr>
          <a:xfrm>
            <a:off x="1042416" y="5276359"/>
            <a:ext cx="5477256" cy="617827"/>
          </a:xfrm>
          <a:prstGeom prst="rect">
            <a:avLst/>
          </a:prstGeom>
          <a:noFill/>
          <a:ln/>
        </p:spPr>
        <p:txBody>
          <a:bodyPr wrap="square" lIns="0" tIns="0" rIns="0" bIns="0" rtlCol="0" anchor="t"/>
          <a:lstStyle/>
          <a:p>
            <a:pPr indent="0" marL="0">
              <a:lnSpc>
                <a:spcPts val="2000"/>
              </a:lnSpc>
              <a:buNone/>
            </a:pPr>
            <a:r>
              <a:rPr lang="en-US" sz="1550" dirty="0">
                <a:solidFill>
                  <a:srgbClr val="FFFFFF"/>
                </a:solidFill>
                <a:latin typeface="Anton" pitchFamily="34" charset="0"/>
                <a:ea typeface="Anton" pitchFamily="34" charset="-122"/>
                <a:cs typeface="Anton" pitchFamily="34" charset="-120"/>
              </a:rPr>
              <a:t>ACREDITAMOS QUE AS MELHORES PARCERIAS SÃO CONSTRUÍDAS EM CONJUNTO.</a:t>
            </a:r>
            <a:endParaRPr lang="en-US" sz="1550" dirty="0"/>
          </a:p>
        </p:txBody>
      </p:sp>
      <p:sp>
        <p:nvSpPr>
          <p:cNvPr id="40" name="Shape 37"/>
          <p:cNvSpPr/>
          <p:nvPr/>
        </p:nvSpPr>
        <p:spPr>
          <a:xfrm rot="10800000">
            <a:off x="6245352" y="6049634"/>
            <a:ext cx="237744" cy="182880"/>
          </a:xfrm>
          <a:prstGeom prst="triangle">
            <a:avLst/>
          </a:prstGeom>
          <a:solidFill>
            <a:srgbClr val="000000"/>
          </a:solidFill>
          <a:ln/>
        </p:spPr>
      </p:sp>
      <p:sp>
        <p:nvSpPr>
          <p:cNvPr id="41" name="Text 38"/>
          <p:cNvSpPr/>
          <p:nvPr/>
        </p:nvSpPr>
        <p:spPr>
          <a:xfrm>
            <a:off x="713232" y="6423884"/>
            <a:ext cx="6135624" cy="702713"/>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Por isso, não queremos trabalhar com formatos engessados. Estamos dispostos a ouvir as necessidades e os objetivos de cada empresa e pensar em contrapartidas que façam sentido para o parceiro e, ao mesmo tempo, sejam relevantes para a nossa comunidade.</a:t>
            </a:r>
            <a:endParaRPr lang="en-US" sz="1100" dirty="0"/>
          </a:p>
        </p:txBody>
      </p:sp>
      <p:sp>
        <p:nvSpPr>
          <p:cNvPr id="42" name="Text 39"/>
          <p:cNvSpPr/>
          <p:nvPr/>
        </p:nvSpPr>
        <p:spPr>
          <a:xfrm>
            <a:off x="713232" y="7265025"/>
            <a:ext cx="6135624" cy="270814"/>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A Loop está aberta para construir essa história junto com quem quiser fazer parte dela.</a:t>
            </a:r>
            <a:endParaRPr lang="en-US" sz="1100" dirty="0"/>
          </a:p>
        </p:txBody>
      </p:sp>
      <p:sp>
        <p:nvSpPr>
          <p:cNvPr id="43" name="Text 40"/>
          <p:cNvSpPr/>
          <p:nvPr/>
        </p:nvSpPr>
        <p:spPr>
          <a:xfrm>
            <a:off x="713232" y="7674266"/>
            <a:ext cx="6135624" cy="702713"/>
          </a:xfrm>
          <a:prstGeom prst="rect">
            <a:avLst/>
          </a:prstGeom>
          <a:noFill/>
          <a:ln/>
        </p:spPr>
        <p:txBody>
          <a:bodyPr wrap="square" lIns="0" tIns="0" rIns="0" bIns="0" rtlCol="0" anchor="t"/>
          <a:lstStyle/>
          <a:p>
            <a:pPr indent="0" marL="0">
              <a:lnSpc>
                <a:spcPts val="1700"/>
              </a:lnSpc>
              <a:buNone/>
            </a:pPr>
            <a:r>
              <a:rPr lang="en-US" sz="1100" dirty="0">
                <a:solidFill>
                  <a:srgbClr val="111111"/>
                </a:solidFill>
                <a:latin typeface="Barlow" pitchFamily="34" charset="0"/>
                <a:ea typeface="Barlow" pitchFamily="34" charset="-122"/>
                <a:cs typeface="Barlow" pitchFamily="34" charset="-120"/>
              </a:rPr>
              <a:t>Se você acredita que existe uma possibilidade de parceria, apoio ou projeto que possa fazer sentido para a sua empresa e para a Loop, vamos conversar. Estamos dispostos a ouvir, criar, adaptar e encontrar juntos o melhor formato para que essa parceria aconteça.</a:t>
            </a:r>
            <a:endParaRPr lang="en-US" sz="1100" dirty="0"/>
          </a:p>
        </p:txBody>
      </p:sp>
      <p:sp>
        <p:nvSpPr>
          <p:cNvPr id="44" name="Shape 41"/>
          <p:cNvSpPr/>
          <p:nvPr/>
        </p:nvSpPr>
        <p:spPr>
          <a:xfrm>
            <a:off x="713232" y="8622790"/>
            <a:ext cx="6135624" cy="32004"/>
          </a:xfrm>
          <a:prstGeom prst="rect">
            <a:avLst/>
          </a:prstGeom>
          <a:solidFill>
            <a:srgbClr val="000000"/>
          </a:solidFill>
          <a:ln/>
        </p:spPr>
      </p:sp>
      <p:sp>
        <p:nvSpPr>
          <p:cNvPr id="45" name="Text 42"/>
          <p:cNvSpPr/>
          <p:nvPr/>
        </p:nvSpPr>
        <p:spPr>
          <a:xfrm>
            <a:off x="713232" y="8897110"/>
            <a:ext cx="6135624" cy="365760"/>
          </a:xfrm>
          <a:prstGeom prst="rect">
            <a:avLst/>
          </a:prstGeom>
          <a:noFill/>
          <a:ln/>
        </p:spPr>
        <p:txBody>
          <a:bodyPr wrap="square" lIns="0" tIns="0" rIns="0" bIns="0" rtlCol="0" anchor="t"/>
          <a:lstStyle/>
          <a:p>
            <a:pPr indent="0" marL="0">
              <a:lnSpc>
                <a:spcPts val="2700"/>
              </a:lnSpc>
              <a:buNone/>
            </a:pPr>
            <a:r>
              <a:rPr lang="en-US" sz="2500" dirty="0">
                <a:solidFill>
                  <a:srgbClr val="000000"/>
                </a:solidFill>
                <a:latin typeface="Anton" pitchFamily="34" charset="0"/>
                <a:ea typeface="Anton" pitchFamily="34" charset="-122"/>
                <a:cs typeface="Anton" pitchFamily="34" charset="-120"/>
              </a:rPr>
              <a:t>LOOP SKATE PARK</a:t>
            </a:r>
            <a:endParaRPr lang="en-US" sz="2500" dirty="0"/>
          </a:p>
        </p:txBody>
      </p:sp>
      <p:sp>
        <p:nvSpPr>
          <p:cNvPr id="46" name="Text 43"/>
          <p:cNvSpPr/>
          <p:nvPr/>
        </p:nvSpPr>
        <p:spPr>
          <a:xfrm>
            <a:off x="713232" y="9299446"/>
            <a:ext cx="6135624" cy="420624"/>
          </a:xfrm>
          <a:prstGeom prst="rect">
            <a:avLst/>
          </a:prstGeom>
          <a:noFill/>
          <a:ln/>
        </p:spPr>
        <p:txBody>
          <a:bodyPr wrap="square" lIns="0" tIns="0" rIns="0" bIns="0" rtlCol="0" anchor="t"/>
          <a:lstStyle/>
          <a:p>
            <a:pPr indent="0" marL="0">
              <a:lnSpc>
                <a:spcPts val="1600"/>
              </a:lnSpc>
              <a:buNone/>
            </a:pPr>
            <a:r>
              <a:rPr lang="en-US" sz="1050" b="1" spc="140" kern="0" dirty="0">
                <a:solidFill>
                  <a:srgbClr val="000000"/>
                </a:solidFill>
                <a:latin typeface="Oswald" pitchFamily="34" charset="0"/>
                <a:ea typeface="Oswald" pitchFamily="34" charset="-122"/>
                <a:cs typeface="Oswald" pitchFamily="34" charset="-120"/>
              </a:rPr>
              <a:t>Belo Horizonte – MG</a:t>
            </a:r>
            <a:endParaRPr lang="en-US" sz="1050" dirty="0"/>
          </a:p>
          <a:p>
            <a:pPr indent="0" marL="0">
              <a:lnSpc>
                <a:spcPts val="1600"/>
              </a:lnSpc>
              <a:buNone/>
            </a:pPr>
            <a:r>
              <a:rPr lang="en-US" sz="1050" b="1" spc="140" kern="0" dirty="0">
                <a:solidFill>
                  <a:srgbClr val="000000"/>
                </a:solidFill>
                <a:latin typeface="Oswald" pitchFamily="34" charset="0"/>
                <a:ea typeface="Oswald" pitchFamily="34" charset="-122"/>
                <a:cs typeface="Oswald" pitchFamily="34" charset="-120"/>
              </a:rPr>
              <a:t>@loopskatepark</a:t>
            </a:r>
            <a:endParaRPr lang="en-US" sz="1050" dirty="0"/>
          </a:p>
        </p:txBody>
      </p:sp>
      <p:sp>
        <p:nvSpPr>
          <p:cNvPr id="47" name="Shape 44"/>
          <p:cNvSpPr/>
          <p:nvPr/>
        </p:nvSpPr>
        <p:spPr>
          <a:xfrm>
            <a:off x="713232" y="10122408"/>
            <a:ext cx="6135624" cy="18288"/>
          </a:xfrm>
          <a:prstGeom prst="rect">
            <a:avLst/>
          </a:prstGeom>
          <a:solidFill>
            <a:srgbClr val="000000"/>
          </a:solidFill>
          <a:ln/>
        </p:spPr>
      </p:sp>
      <p:sp>
        <p:nvSpPr>
          <p:cNvPr id="48" name="Text 45"/>
          <p:cNvSpPr/>
          <p:nvPr/>
        </p:nvSpPr>
        <p:spPr>
          <a:xfrm>
            <a:off x="713232" y="10250424"/>
            <a:ext cx="5586984" cy="182880"/>
          </a:xfrm>
          <a:prstGeom prst="rect">
            <a:avLst/>
          </a:prstGeom>
          <a:noFill/>
          <a:ln/>
        </p:spPr>
        <p:txBody>
          <a:bodyPr wrap="square" lIns="0" tIns="0" rIns="0" bIns="0" rtlCol="0" anchor="t"/>
          <a:lstStyle/>
          <a:p>
            <a:pPr indent="0" marL="0">
              <a:lnSpc>
                <a:spcPts val="1100"/>
              </a:lnSpc>
              <a:buNone/>
            </a:pPr>
            <a:r>
              <a:rPr lang="en-US" sz="800" spc="160" kern="0" dirty="0">
                <a:solidFill>
                  <a:srgbClr val="555555"/>
                </a:solidFill>
                <a:latin typeface="Oswald" pitchFamily="34" charset="0"/>
                <a:ea typeface="Oswald" pitchFamily="34" charset="-122"/>
                <a:cs typeface="Oswald" pitchFamily="34" charset="-120"/>
              </a:rPr>
              <a:t>Loop Skate Park · Carta de apresentação · 2026</a:t>
            </a:r>
            <a:endParaRPr lang="en-US" sz="800" dirty="0"/>
          </a:p>
        </p:txBody>
      </p:sp>
      <p:sp>
        <p:nvSpPr>
          <p:cNvPr id="49" name="Text 46"/>
          <p:cNvSpPr/>
          <p:nvPr/>
        </p:nvSpPr>
        <p:spPr>
          <a:xfrm>
            <a:off x="6300216" y="10232136"/>
            <a:ext cx="548640" cy="219456"/>
          </a:xfrm>
          <a:prstGeom prst="rect">
            <a:avLst/>
          </a:prstGeom>
          <a:noFill/>
          <a:ln/>
        </p:spPr>
        <p:txBody>
          <a:bodyPr wrap="square" lIns="0" tIns="0" rIns="0" bIns="0" rtlCol="0" anchor="t"/>
          <a:lstStyle/>
          <a:p>
            <a:pPr algn="r" indent="0" marL="0">
              <a:lnSpc>
                <a:spcPts val="1200"/>
              </a:lnSpc>
              <a:buNone/>
            </a:pPr>
            <a:r>
              <a:rPr lang="en-US" sz="1000" dirty="0">
                <a:solidFill>
                  <a:srgbClr val="000000"/>
                </a:solidFill>
                <a:latin typeface="Anton" pitchFamily="34" charset="0"/>
                <a:ea typeface="Anton" pitchFamily="34" charset="-122"/>
                <a:cs typeface="Anton"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alessandra-loop.github.io/script/carta-pptx/.build/logo.png">    </p:cNvPr>
          <p:cNvPicPr>
            <a:picLocks noChangeAspect="1"/>
          </p:cNvPicPr>
          <p:nvPr/>
        </p:nvPicPr>
        <p:blipFill>
          <a:blip r:embed="rId2"/>
          <a:stretch>
            <a:fillRect/>
          </a:stretch>
        </p:blipFill>
        <p:spPr>
          <a:xfrm>
            <a:off x="2889504" y="1970517"/>
            <a:ext cx="1783080" cy="786414"/>
          </a:xfrm>
          <a:prstGeom prst="rect">
            <a:avLst/>
          </a:prstGeom>
        </p:spPr>
      </p:pic>
      <p:sp>
        <p:nvSpPr>
          <p:cNvPr id="3" name="Text 0"/>
          <p:cNvSpPr/>
          <p:nvPr/>
        </p:nvSpPr>
        <p:spPr>
          <a:xfrm>
            <a:off x="713232" y="3488451"/>
            <a:ext cx="6135624" cy="786384"/>
          </a:xfrm>
          <a:prstGeom prst="rect">
            <a:avLst/>
          </a:prstGeom>
          <a:noFill/>
          <a:ln/>
        </p:spPr>
        <p:txBody>
          <a:bodyPr wrap="square" lIns="0" tIns="0" rIns="0" bIns="0" rtlCol="0" anchor="t"/>
          <a:lstStyle/>
          <a:p>
            <a:pPr algn="ctr" indent="0" marL="0">
              <a:lnSpc>
                <a:spcPts val="5400"/>
              </a:lnSpc>
              <a:buNone/>
            </a:pPr>
            <a:r>
              <a:rPr lang="en-US" sz="5000" dirty="0">
                <a:solidFill>
                  <a:srgbClr val="FFFFFF"/>
                </a:solidFill>
                <a:latin typeface="Anton" pitchFamily="34" charset="0"/>
                <a:ea typeface="Anton" pitchFamily="34" charset="-122"/>
                <a:cs typeface="Anton" pitchFamily="34" charset="-120"/>
              </a:rPr>
              <a:t>VAMOS CONVERSAR?</a:t>
            </a:r>
            <a:endParaRPr lang="en-US" sz="5000" dirty="0"/>
          </a:p>
        </p:txBody>
      </p:sp>
      <p:sp>
        <p:nvSpPr>
          <p:cNvPr id="4" name="Text 1"/>
          <p:cNvSpPr/>
          <p:nvPr/>
        </p:nvSpPr>
        <p:spPr>
          <a:xfrm>
            <a:off x="1175004" y="4658883"/>
            <a:ext cx="5212080" cy="777240"/>
          </a:xfrm>
          <a:prstGeom prst="rect">
            <a:avLst/>
          </a:prstGeom>
          <a:noFill/>
          <a:ln/>
        </p:spPr>
        <p:txBody>
          <a:bodyPr wrap="square" lIns="0" tIns="0" rIns="0" bIns="0" rtlCol="0" anchor="t"/>
          <a:lstStyle/>
          <a:p>
            <a:pPr algn="ctr" indent="0" marL="0">
              <a:lnSpc>
                <a:spcPts val="1800"/>
              </a:lnSpc>
              <a:buNone/>
            </a:pPr>
            <a:r>
              <a:rPr lang="en-US" sz="1200" dirty="0">
                <a:solidFill>
                  <a:srgbClr val="FFFFFF"/>
                </a:solidFill>
                <a:latin typeface="Barlow" pitchFamily="34" charset="0"/>
                <a:ea typeface="Barlow" pitchFamily="34" charset="-122"/>
                <a:cs typeface="Barlow" pitchFamily="34" charset="-120"/>
              </a:rPr>
              <a:t>Chame a gente para apresentar a sua ideia — ou para ouvir as nossas. A proposta a gente desenha junto, no formato que fizer sentido para a sua marca e para a nossa comunidade.</a:t>
            </a:r>
            <a:endParaRPr lang="en-US" sz="1200" dirty="0"/>
          </a:p>
        </p:txBody>
      </p:sp>
      <p:sp>
        <p:nvSpPr>
          <p:cNvPr id="5" name="Shape 2"/>
          <p:cNvSpPr/>
          <p:nvPr/>
        </p:nvSpPr>
        <p:spPr>
          <a:xfrm>
            <a:off x="1449324" y="6021339"/>
            <a:ext cx="4663440" cy="841248"/>
          </a:xfrm>
          <a:prstGeom prst="roundRect">
            <a:avLst>
              <a:gd name="adj" fmla="val 17391"/>
            </a:avLst>
          </a:prstGeom>
          <a:solidFill>
            <a:srgbClr val="FFB3D1"/>
          </a:solidFill>
          <a:ln/>
        </p:spPr>
      </p:sp>
      <p:sp>
        <p:nvSpPr>
          <p:cNvPr id="6" name="Text 3"/>
          <p:cNvSpPr/>
          <p:nvPr/>
        </p:nvSpPr>
        <p:spPr>
          <a:xfrm>
            <a:off x="1449324" y="6185931"/>
            <a:ext cx="4663440" cy="182880"/>
          </a:xfrm>
          <a:prstGeom prst="rect">
            <a:avLst/>
          </a:prstGeom>
          <a:noFill/>
          <a:ln/>
        </p:spPr>
        <p:txBody>
          <a:bodyPr wrap="square" lIns="0" tIns="0" rIns="0" bIns="0" rtlCol="0" anchor="t"/>
          <a:lstStyle/>
          <a:p>
            <a:pPr algn="ctr" indent="0" marL="0">
              <a:lnSpc>
                <a:spcPts val="1300"/>
              </a:lnSpc>
              <a:buNone/>
            </a:pPr>
            <a:r>
              <a:rPr lang="en-US" sz="950" b="1" spc="300" kern="0" dirty="0">
                <a:solidFill>
                  <a:srgbClr val="000000"/>
                </a:solidFill>
                <a:latin typeface="Oswald" pitchFamily="34" charset="0"/>
                <a:ea typeface="Oswald" pitchFamily="34" charset="-122"/>
                <a:cs typeface="Oswald" pitchFamily="34" charset="-120"/>
              </a:rPr>
              <a:t>WHATSAPP</a:t>
            </a:r>
            <a:endParaRPr lang="en-US" sz="950" dirty="0"/>
          </a:p>
        </p:txBody>
      </p:sp>
      <p:sp>
        <p:nvSpPr>
          <p:cNvPr id="7" name="Text 4">
            <a:hlinkClick r:id="rId3" tooltip=""/>
          </p:cNvPr>
          <p:cNvSpPr/>
          <p:nvPr/>
        </p:nvSpPr>
        <p:spPr>
          <a:xfrm>
            <a:off x="1449324" y="6423675"/>
            <a:ext cx="4663440" cy="292608"/>
          </a:xfrm>
          <a:prstGeom prst="rect">
            <a:avLst/>
          </a:prstGeom>
          <a:noFill/>
          <a:ln/>
        </p:spPr>
        <p:txBody>
          <a:bodyPr wrap="square" lIns="0" tIns="0" rIns="0" bIns="0" rtlCol="0" anchor="t"/>
          <a:lstStyle/>
          <a:p>
            <a:pPr algn="ctr" indent="0" marL="0">
              <a:lnSpc>
                <a:spcPts val="2000"/>
              </a:lnSpc>
              <a:buNone/>
            </a:pPr>
            <a:r>
              <a:rPr lang="en-US" sz="1600" b="1" u="none" dirty="0">
                <a:solidFill>
                  <a:srgbClr val="000000"/>
                </a:solidFill>
                <a:latin typeface="Oswald" pitchFamily="34" charset="0"/>
                <a:ea typeface="Oswald" pitchFamily="34" charset="-122"/>
                <a:cs typeface="Oswa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(31) 98278-9675</a:t>
            </a:r>
            <a:endParaRPr lang="en-US" sz="1600" dirty="0"/>
          </a:p>
        </p:txBody>
      </p:sp>
      <p:sp>
        <p:nvSpPr>
          <p:cNvPr id="8" name="Shape 5"/>
          <p:cNvSpPr/>
          <p:nvPr/>
        </p:nvSpPr>
        <p:spPr>
          <a:xfrm>
            <a:off x="1449324" y="7100331"/>
            <a:ext cx="4663440" cy="841248"/>
          </a:xfrm>
          <a:prstGeom prst="roundRect">
            <a:avLst>
              <a:gd name="adj" fmla="val 17391"/>
            </a:avLst>
          </a:prstGeom>
          <a:solidFill>
            <a:srgbClr val="18D7DF"/>
          </a:solidFill>
          <a:ln/>
        </p:spPr>
      </p:sp>
      <p:sp>
        <p:nvSpPr>
          <p:cNvPr id="9" name="Text 6"/>
          <p:cNvSpPr/>
          <p:nvPr/>
        </p:nvSpPr>
        <p:spPr>
          <a:xfrm>
            <a:off x="1449324" y="7264923"/>
            <a:ext cx="4663440" cy="182880"/>
          </a:xfrm>
          <a:prstGeom prst="rect">
            <a:avLst/>
          </a:prstGeom>
          <a:noFill/>
          <a:ln/>
        </p:spPr>
        <p:txBody>
          <a:bodyPr wrap="square" lIns="0" tIns="0" rIns="0" bIns="0" rtlCol="0" anchor="t"/>
          <a:lstStyle/>
          <a:p>
            <a:pPr algn="ctr" indent="0" marL="0">
              <a:lnSpc>
                <a:spcPts val="1300"/>
              </a:lnSpc>
              <a:buNone/>
            </a:pPr>
            <a:r>
              <a:rPr lang="en-US" sz="950" b="1" spc="300" kern="0" dirty="0">
                <a:solidFill>
                  <a:srgbClr val="000000"/>
                </a:solidFill>
                <a:latin typeface="Oswald" pitchFamily="34" charset="0"/>
                <a:ea typeface="Oswald" pitchFamily="34" charset="-122"/>
                <a:cs typeface="Oswald" pitchFamily="34" charset="-120"/>
              </a:rPr>
              <a:t>E-MAIL</a:t>
            </a:r>
            <a:endParaRPr lang="en-US" sz="950" dirty="0"/>
          </a:p>
        </p:txBody>
      </p:sp>
      <p:sp>
        <p:nvSpPr>
          <p:cNvPr id="10" name="Text 7">
            <a:hlinkClick r:id="rId4" tooltip=""/>
          </p:cNvPr>
          <p:cNvSpPr/>
          <p:nvPr/>
        </p:nvSpPr>
        <p:spPr>
          <a:xfrm>
            <a:off x="1449324" y="7502667"/>
            <a:ext cx="4663440" cy="292608"/>
          </a:xfrm>
          <a:prstGeom prst="rect">
            <a:avLst/>
          </a:prstGeom>
          <a:noFill/>
          <a:ln/>
        </p:spPr>
        <p:txBody>
          <a:bodyPr wrap="square" lIns="0" tIns="0" rIns="0" bIns="0" rtlCol="0" anchor="t"/>
          <a:lstStyle/>
          <a:p>
            <a:pPr algn="ctr" indent="0" marL="0">
              <a:lnSpc>
                <a:spcPts val="2000"/>
              </a:lnSpc>
              <a:buNone/>
            </a:pPr>
            <a:r>
              <a:rPr lang="en-US" sz="1600" b="1" u="none" dirty="0">
                <a:solidFill>
                  <a:srgbClr val="000000"/>
                </a:solidFill>
                <a:latin typeface="Oswald" pitchFamily="34" charset="0"/>
                <a:ea typeface="Oswald" pitchFamily="34" charset="-122"/>
                <a:cs typeface="Oswa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contato@loopskatepark.com.br</a:t>
            </a:r>
            <a:endParaRPr lang="en-US" sz="1600" dirty="0"/>
          </a:p>
        </p:txBody>
      </p:sp>
      <p:sp>
        <p:nvSpPr>
          <p:cNvPr id="11" name="Shape 8"/>
          <p:cNvSpPr/>
          <p:nvPr/>
        </p:nvSpPr>
        <p:spPr>
          <a:xfrm>
            <a:off x="2176272" y="9171432"/>
            <a:ext cx="3209544" cy="18288"/>
          </a:xfrm>
          <a:prstGeom prst="rect">
            <a:avLst/>
          </a:prstGeom>
          <a:solidFill>
            <a:srgbClr val="FFFFFF">
              <a:alpha val="45000"/>
            </a:srgbClr>
          </a:solidFill>
          <a:ln/>
        </p:spPr>
      </p:sp>
      <p:sp>
        <p:nvSpPr>
          <p:cNvPr id="12" name="Text 9"/>
          <p:cNvSpPr/>
          <p:nvPr/>
        </p:nvSpPr>
        <p:spPr>
          <a:xfrm>
            <a:off x="713232" y="9445752"/>
            <a:ext cx="6135624" cy="219456"/>
          </a:xfrm>
          <a:prstGeom prst="rect">
            <a:avLst/>
          </a:prstGeom>
          <a:noFill/>
          <a:ln/>
        </p:spPr>
        <p:txBody>
          <a:bodyPr wrap="square" lIns="0" tIns="0" rIns="0" bIns="0" rtlCol="0" anchor="t"/>
          <a:lstStyle/>
          <a:p>
            <a:pPr algn="ctr" indent="0" marL="0">
              <a:lnSpc>
                <a:spcPts val="1400"/>
              </a:lnSpc>
              <a:buNone/>
            </a:pPr>
            <a:r>
              <a:rPr lang="en-US" sz="950" spc="120" kern="0" dirty="0">
                <a:solidFill>
                  <a:srgbClr val="FFFFFF"/>
                </a:solidFill>
                <a:latin typeface="Oswald" pitchFamily="34" charset="0"/>
                <a:ea typeface="Oswald" pitchFamily="34" charset="-122"/>
                <a:cs typeface="Oswald" pitchFamily="34" charset="-120"/>
              </a:rPr>
              <a:t>Rua Vila Rica, 1168, 2º andar — Caiçara, Belo Horizonte / MG</a:t>
            </a:r>
            <a:endParaRPr lang="en-US" sz="950" dirty="0"/>
          </a:p>
        </p:txBody>
      </p:sp>
      <p:sp>
        <p:nvSpPr>
          <p:cNvPr id="13" name="Text 10">
            <a:hlinkClick r:id="rId5" tooltip=""/>
          </p:cNvPr>
          <p:cNvSpPr/>
          <p:nvPr/>
        </p:nvSpPr>
        <p:spPr>
          <a:xfrm>
            <a:off x="713232" y="9774936"/>
            <a:ext cx="6135624" cy="256032"/>
          </a:xfrm>
          <a:prstGeom prst="rect">
            <a:avLst/>
          </a:prstGeom>
          <a:noFill/>
          <a:ln/>
        </p:spPr>
        <p:txBody>
          <a:bodyPr wrap="square" lIns="0" tIns="0" rIns="0" bIns="0" rtlCol="0" anchor="t"/>
          <a:lstStyle/>
          <a:p>
            <a:pPr algn="ctr" indent="0" marL="0">
              <a:lnSpc>
                <a:spcPts val="1700"/>
              </a:lnSpc>
              <a:buNone/>
            </a:pPr>
            <a:r>
              <a:rPr lang="en-US" sz="1200" b="1" u="sng" spc="240" kern="0" dirty="0">
                <a:solidFill>
                  <a:srgbClr val="18D7DF"/>
                </a:solidFill>
                <a:latin typeface="Oswald" pitchFamily="34" charset="0"/>
                <a:ea typeface="Oswald" pitchFamily="34" charset="-122"/>
                <a:cs typeface="Oswald" pitchFamily="34" charset="-120"/>
                <a:hlinkClick r:id="rId5" invalidUrl="" action="" tgtFrame="" tooltip="" history="1" highlightClick="0" endSnd="0">
                  <a:extLst>
                    <a:ext uri="{A12FA001-AC4F-418D-AE19-62706E023703}">
                      <ahyp:hlinkClr xmlns:ahyp="http://schemas.microsoft.com/office/drawing/2018/hyperlinkcolor" val="tx"/>
                    </a:ext>
                  </a:extLst>
                </a:hlinkClick>
              </a:rPr>
              <a:t>loopskatepark.com.br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Loop Skate 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Carta de Apresentação — Loop Skate Park</dc:title>
  <dc:subject>Carta de apresentação para marcas, empresas e coletivos</dc:subject>
  <dc:creator>Loop Skate Park</dc:creator>
  <cp:lastModifiedBy>Loop Skate Park</cp:lastModifiedBy>
  <cp:revision>1</cp:revision>
  <dcterms:created xsi:type="dcterms:W3CDTF">2026-09-15T17:22:19Z</dcterms:created>
  <dcterms:modified xsi:type="dcterms:W3CDTF">2026-09-15T17:22:19Z</dcterms:modified>
</cp:coreProperties>
</file>